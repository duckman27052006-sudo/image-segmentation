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579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Mở đầu: Hôm nay chúng ta tìm hiểu hai phương pháp phân vùng ảnh kinh điển: Nở vùng (Region Growing) và Gộp vùng (Split and Merge). Trọng tâm là bản chất cách mỗi thuật toán 'suy nghĩ', để khi xem demo mọi thao tác đều dễ hiểu.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Phân vùng không phải là nhận dạng đối tượng. Nó chỉ trả lời câu hỏi: những pixel nào 'giống nhau' và nên được xem là một phần của cùng một vùng. Đây là bước đệm cho các bài toán phân tích phía sau.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thuật toán xuất phát từ hai đầu đối lập. Nở vùng là bottom-up: từ chi tiết đi lên. Gộp vùng là top-down: từ tổng thể đi xuống. Điểm chung là đều dựa trên tiêu chí 'đồng nhất' giữa các pixel hoặc các vùng.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Cốt lõi của nở vùng là sự lan tỏa có kiểm soát. Mỗi bước chỉ thêm những pixel lân cận thật sự giống vùng hiện tại. Hình dung vùng như một 'vết dầu loang' dừng lại ngay khi gặp vùng có màu khác.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Bốn bước này lặp đi lặp lại đến khi vùng 'no'. Điểm cần nhấn mạnh: thuật toán không nhìn toàn ảnh cùng lúc, nó chỉ nhìn biên của vùng đang lớn dần. Đây là lý do nở vùng rất trực quan nhưng cũng rất nhạy với điều kiện dừng.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phần quan trọng để chuẩn bị cho demo: khi thay đổi tham số trên màn hình, người xem sẽ hiểu vì sao kết quả đổi. Hạt giống quyết định vùng nào được sinh ra; ngưỡng quyết định vùng lan bao xa; thứ tự quyết định ai thắng ở vùng biên.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Nở vùng rất hợp khi ta đã biết đối tượng nằm ở đâu và muốn tách riêng nó. Nhưng nếu ảnh có biên mờ hoặc màu chuyển dần, vùng có thể 'chảy' sang đối tượng bên cạnh. Đây là hạn chế bản chất, không phải lỗi cài đặt.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Tên gọi Split and Merge nói đúng toàn bộ ý tưởng: tách trước, gộp sau. Đây là cách tiếp cận từ tổng thể: không cần biết trước đối tượng nằm ở đâu, thuật toán tự chia ảnh thành các phần nhỏ rồi tìm cách ghép chúng lại.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Tách là quá trình đệ quy: một khối chưa đồng nhất sẽ bị chia làm bốn. Hình dung như cắt một tờ giấy thành bốn phần bằng nhau, phần nào còn 'lốm đốm' thì cắt tiếp. Kết quả là các khối nhỏ khá đồng nhất, nhưng biên vùng còn thô.</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Sau khi tách, ta có nhiều khối nhỏ. Bước gộp sửa lại sự 'vụn' đó: các mảnh cùng màu và kề nhau được nhập lại. Chú ý điều kiện kề nhau: hai mảnh cùng màu nhưng bị ngăn cách bởi vùng khác thì không được gộp.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 tham số này là 'núm vặn' của thuật toán. Khi demo, người xem sẽ thấy cùng một ảnh nhưng kết quả thay đổi rõ rệt: chia quá nhỏ thì vụn, gộp quá mạnh thì mất chi tiết. Mục tiêu là tìm điểm cân bằng.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Gộp vùng phù hợp khi cần phân vùng toàn ảnh tự động, không muốn can thiệp bằng tay. Nhược điểm dễ thấy nhất là biên dạng khối. Nếu cần biên mịn, thường phải kết hợp thêm bước xử lý biên sau đó.</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này tóm tắt nhanh để người xem nhớ: nở vùng cần hạt giống và cho biên mềm; gộp vùng tự động và cho biên khối. Không có phương pháp nào tốt hơn tuyệt đối — tùy mục tiêu và đặc điểm ảnh.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2E"/>
        </a:solidFill>
        <a:effectLst/>
      </p:bgPr>
    </p:bg>
    <p:spTree>
      <p:nvGrpSpPr>
        <p:cNvPr id="1" name=""/>
        <p:cNvGrpSpPr/>
        <p:nvPr/>
      </p:nvGrpSpPr>
      <p:grpSpPr>
        <a:xfrm>
          <a:off x="0" y="0"/>
          <a:ext cx="0" cy="0"/>
          <a:chOff x="0" y="0"/>
          <a:chExt cx="0" cy="0"/>
        </a:xfrm>
      </p:grpSpPr>
      <p:sp>
        <p:nvSpPr>
          <p:cNvPr id="2" name="Rectangle 1"/>
          <p:cNvSpPr/>
          <p:nvPr/>
        </p:nvSpPr>
        <p:spPr>
          <a:xfrm>
            <a:off x="6400800" y="1508760"/>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104888" y="1508760"/>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808975" y="1508760"/>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513064" y="1508760"/>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217152" y="1508760"/>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921240" y="1508760"/>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625328" y="1508760"/>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329416" y="1508760"/>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2212848"/>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04888" y="2212848"/>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808975" y="2212848"/>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13064" y="2212848"/>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217152" y="2212848"/>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921240" y="2212848"/>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25328" y="2212848"/>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329416" y="2212848"/>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2916936"/>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104888" y="2916936"/>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808975" y="2916936"/>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513064" y="2916936"/>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217152" y="2916936"/>
            <a:ext cx="658368" cy="658368"/>
          </a:xfrm>
          <a:prstGeom prst="rect">
            <a:avLst/>
          </a:prstGeom>
          <a:solidFill>
            <a:srgbClr val="A9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921240" y="2916936"/>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625328" y="2916936"/>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329416" y="2916936"/>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3621024"/>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104888" y="3621024"/>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08975" y="3621024"/>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513064" y="3621024"/>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17152" y="3621024"/>
            <a:ext cx="658368" cy="658368"/>
          </a:xfrm>
          <a:prstGeom prst="rect">
            <a:avLst/>
          </a:prstGeom>
          <a:solidFill>
            <a:srgbClr val="2F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921240" y="3621024"/>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625328" y="3621024"/>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1329416" y="3621024"/>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00800" y="4325112"/>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104888" y="4325112"/>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808975" y="4325112"/>
            <a:ext cx="658368" cy="658368"/>
          </a:xfrm>
          <a:prstGeom prst="rect">
            <a:avLst/>
          </a:prstGeom>
          <a:solidFill>
            <a:srgbClr val="B5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513064" y="4325112"/>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217152" y="4325112"/>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921240" y="4325112"/>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625328" y="4325112"/>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329416" y="4325112"/>
            <a:ext cx="658368" cy="658368"/>
          </a:xfrm>
          <a:prstGeom prst="rect">
            <a:avLst/>
          </a:prstGeom>
          <a:solidFill>
            <a:srgbClr val="496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2960" y="1051560"/>
            <a:ext cx="5120640" cy="274320"/>
          </a:xfrm>
          <a:prstGeom prst="rect">
            <a:avLst/>
          </a:prstGeom>
          <a:noFill/>
        </p:spPr>
        <p:txBody>
          <a:bodyPr wrap="square" lIns="0" tIns="0" rIns="0" bIns="0" anchor="t">
            <a:noAutofit/>
          </a:bodyPr>
          <a:lstStyle/>
          <a:p>
            <a:pPr algn="l">
              <a:lnSpc>
                <a:spcPct val="110000"/>
              </a:lnSpc>
            </a:pPr>
            <a:r>
              <a:rPr sz="1200" b="1" i="0">
                <a:solidFill>
                  <a:srgbClr val="8CC9BC"/>
                </a:solidFill>
                <a:latin typeface="Segoe UI"/>
              </a:rPr>
              <a:t>XỬ LÝ ẢNH SỐ</a:t>
            </a:r>
          </a:p>
        </p:txBody>
      </p:sp>
      <p:sp>
        <p:nvSpPr>
          <p:cNvPr id="43" name="TextBox 42"/>
          <p:cNvSpPr txBox="1"/>
          <p:nvPr/>
        </p:nvSpPr>
        <p:spPr>
          <a:xfrm>
            <a:off x="822960" y="1371600"/>
            <a:ext cx="5486400" cy="2103120"/>
          </a:xfrm>
          <a:prstGeom prst="rect">
            <a:avLst/>
          </a:prstGeom>
          <a:noFill/>
        </p:spPr>
        <p:txBody>
          <a:bodyPr wrap="square" lIns="0" tIns="0" rIns="0" bIns="0" anchor="t">
            <a:noAutofit/>
          </a:bodyPr>
          <a:lstStyle/>
          <a:p>
            <a:pPr algn="l">
              <a:lnSpc>
                <a:spcPct val="95000"/>
              </a:lnSpc>
            </a:pPr>
            <a:r>
              <a:rPr sz="5200" b="1" i="0">
                <a:solidFill>
                  <a:srgbClr val="F4EFE6"/>
                </a:solidFill>
                <a:latin typeface="Cambria"/>
              </a:rPr>
              <a:t>Nở vùng</a:t>
            </a:r>
          </a:p>
          <a:p>
            <a:pPr algn="l">
              <a:lnSpc>
                <a:spcPct val="95000"/>
              </a:lnSpc>
            </a:pPr>
            <a:r>
              <a:rPr sz="5200" b="1" i="0">
                <a:solidFill>
                  <a:srgbClr val="F4EFE6"/>
                </a:solidFill>
                <a:latin typeface="Cambria"/>
              </a:rPr>
              <a:t>&amp; Gộp vùng</a:t>
            </a:r>
          </a:p>
        </p:txBody>
      </p:sp>
      <p:sp>
        <p:nvSpPr>
          <p:cNvPr id="44" name="TextBox 43"/>
          <p:cNvSpPr txBox="1"/>
          <p:nvPr/>
        </p:nvSpPr>
        <p:spPr>
          <a:xfrm>
            <a:off x="822960" y="3566160"/>
            <a:ext cx="4937760" cy="1005840"/>
          </a:xfrm>
          <a:prstGeom prst="rect">
            <a:avLst/>
          </a:prstGeom>
          <a:noFill/>
        </p:spPr>
        <p:txBody>
          <a:bodyPr wrap="square" lIns="0" tIns="0" rIns="0" bIns="0" anchor="t">
            <a:noAutofit/>
          </a:bodyPr>
          <a:lstStyle/>
          <a:p>
            <a:pPr algn="l">
              <a:lnSpc>
                <a:spcPct val="115000"/>
              </a:lnSpc>
            </a:pPr>
            <a:r>
              <a:rPr sz="1900" b="0" i="0">
                <a:solidFill>
                  <a:srgbClr val="C9D3D9"/>
                </a:solidFill>
                <a:latin typeface="Segoe UI"/>
              </a:rPr>
              <a:t>Nền tảng lý thuyết của hai phương pháp phân vùng ảnh</a:t>
            </a:r>
          </a:p>
        </p:txBody>
      </p:sp>
      <p:cxnSp>
        <p:nvCxnSpPr>
          <p:cNvPr id="45" name="Connector 44"/>
          <p:cNvCxnSpPr/>
          <p:nvPr/>
        </p:nvCxnSpPr>
        <p:spPr>
          <a:xfrm>
            <a:off x="822960" y="4892040"/>
            <a:ext cx="1188720" cy="0"/>
          </a:xfrm>
          <a:prstGeom prst="line">
            <a:avLst/>
          </a:prstGeom>
          <a:ln w="31750">
            <a:solidFill>
              <a:srgbClr val="C75B3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22960" y="5074920"/>
            <a:ext cx="5029200" cy="365760"/>
          </a:xfrm>
          <a:prstGeom prst="rect">
            <a:avLst/>
          </a:prstGeom>
          <a:noFill/>
        </p:spPr>
        <p:txBody>
          <a:bodyPr wrap="square" lIns="0" tIns="0" rIns="0" bIns="0" anchor="t">
            <a:noAutofit/>
          </a:bodyPr>
          <a:lstStyle/>
          <a:p>
            <a:pPr algn="l">
              <a:lnSpc>
                <a:spcPct val="110000"/>
              </a:lnSpc>
            </a:pPr>
            <a:r>
              <a:rPr sz="1300" b="0" i="0">
                <a:solidFill>
                  <a:srgbClr val="9DB0B8"/>
                </a:solidFill>
                <a:latin typeface="Segoe UI"/>
              </a:rPr>
              <a:t>Bài thuyết trình · Demo trực quan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KHÁI NIỆM NỀN TẢNG</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Phân vùng ảnh: chia ảnh thành những phần có nghĩa</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783080"/>
            <a:ext cx="4800600" cy="1005840"/>
          </a:xfrm>
          <a:prstGeom prst="rect">
            <a:avLst/>
          </a:prstGeom>
          <a:noFill/>
        </p:spPr>
        <p:txBody>
          <a:bodyPr wrap="square" lIns="0" tIns="0" rIns="0" bIns="0" anchor="t">
            <a:noAutofit/>
          </a:bodyPr>
          <a:lstStyle/>
          <a:p>
            <a:pPr algn="l">
              <a:lnSpc>
                <a:spcPct val="118000"/>
              </a:lnSpc>
            </a:pPr>
            <a:r>
              <a:rPr sz="1700" b="0" i="0">
                <a:solidFill>
                  <a:srgbClr val="1F2933"/>
                </a:solidFill>
                <a:latin typeface="Segoe UI"/>
              </a:rPr>
              <a:t>Phân vùng ảnh là quá trình chia một ảnh thành các vùng không chồng lấn, mỗi vùng gồm những pixel có đặc điểm tương tự nhau.</a:t>
            </a:r>
          </a:p>
        </p:txBody>
      </p:sp>
      <p:sp>
        <p:nvSpPr>
          <p:cNvPr id="6" name="TextBox 5"/>
          <p:cNvSpPr txBox="1"/>
          <p:nvPr/>
        </p:nvSpPr>
        <p:spPr>
          <a:xfrm>
            <a:off x="685800" y="2926080"/>
            <a:ext cx="4663440" cy="1737360"/>
          </a:xfrm>
          <a:prstGeom prst="rect">
            <a:avLst/>
          </a:prstGeom>
          <a:noFill/>
        </p:spPr>
        <p:txBody>
          <a:bodyPr wrap="square" lIns="0" tIns="0" rIns="0" bIns="0">
            <a:noAutofit/>
          </a:bodyPr>
          <a:lstStyle/>
          <a:p>
            <a:pPr>
              <a:lnSpc>
                <a:spcPct val="112000"/>
              </a:lnSpc>
              <a:spcAft>
                <a:spcPts val="1200"/>
              </a:spcAft>
            </a:pPr>
            <a:r>
              <a:rPr sz="1500" b="1">
                <a:solidFill>
                  <a:srgbClr val="2E7D6E"/>
                </a:solidFill>
                <a:latin typeface="Segoe UI"/>
              </a:rPr>
              <a:t>•   </a:t>
            </a:r>
            <a:r>
              <a:rPr sz="1500" b="1">
                <a:solidFill>
                  <a:srgbClr val="1F2933"/>
                </a:solidFill>
                <a:latin typeface="Segoe UI"/>
              </a:rPr>
              <a:t>Đặc điểm</a:t>
            </a:r>
            <a:r>
              <a:rPr sz="1500">
                <a:solidFill>
                  <a:srgbClr val="5B6673"/>
                </a:solidFill>
                <a:latin typeface="Segoe UI"/>
              </a:rPr>
              <a:t>  màu sắc, độ sáng, kết cấu hoặc vị trí.</a:t>
            </a:r>
          </a:p>
          <a:p>
            <a:pPr>
              <a:lnSpc>
                <a:spcPct val="112000"/>
              </a:lnSpc>
              <a:spcAft>
                <a:spcPts val="1200"/>
              </a:spcAft>
            </a:pPr>
            <a:r>
              <a:rPr sz="1500" b="1">
                <a:solidFill>
                  <a:srgbClr val="2E7D6E"/>
                </a:solidFill>
                <a:latin typeface="Segoe UI"/>
              </a:rPr>
              <a:t>•   </a:t>
            </a:r>
            <a:r>
              <a:rPr sz="1500" b="1">
                <a:solidFill>
                  <a:srgbClr val="1F2933"/>
                </a:solidFill>
                <a:latin typeface="Segoe UI"/>
              </a:rPr>
              <a:t>Mục đích</a:t>
            </a:r>
            <a:r>
              <a:rPr sz="1500">
                <a:solidFill>
                  <a:srgbClr val="5B6673"/>
                </a:solidFill>
                <a:latin typeface="Segoe UI"/>
              </a:rPr>
              <a:t>  đơn giản hóa ảnh và làm nổi bật đối tượng cần phân tích.</a:t>
            </a:r>
          </a:p>
        </p:txBody>
      </p:sp>
      <p:sp>
        <p:nvSpPr>
          <p:cNvPr id="7" name="Rounded Rectangle 6"/>
          <p:cNvSpPr/>
          <p:nvPr/>
        </p:nvSpPr>
        <p:spPr>
          <a:xfrm>
            <a:off x="685800" y="4892040"/>
            <a:ext cx="4800600" cy="960120"/>
          </a:xfrm>
          <a:prstGeom prst="roundRect">
            <a:avLst>
              <a:gd name="adj" fmla="val 6000"/>
            </a:avLst>
          </a:prstGeom>
          <a:solidFill>
            <a:srgbClr val="D6E8E3"/>
          </a:solidFill>
          <a:ln w="12700">
            <a:solidFill>
              <a:srgbClr val="CF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5047488"/>
            <a:ext cx="4434840" cy="685800"/>
          </a:xfrm>
          <a:prstGeom prst="rect">
            <a:avLst/>
          </a:prstGeom>
          <a:noFill/>
        </p:spPr>
        <p:txBody>
          <a:bodyPr wrap="square" lIns="0" tIns="0" rIns="0" bIns="0" anchor="t">
            <a:noAutofit/>
          </a:bodyPr>
          <a:lstStyle/>
          <a:p>
            <a:pPr algn="l">
              <a:lnSpc>
                <a:spcPct val="110000"/>
              </a:lnSpc>
            </a:pPr>
            <a:r>
              <a:rPr sz="1400" b="0" i="1">
                <a:solidFill>
                  <a:srgbClr val="2F6B60"/>
                </a:solidFill>
                <a:latin typeface="Segoe UI"/>
              </a:rPr>
              <a:t>Một vùng tốt: các pixel bên trong giống nhau và khác biệt với vùng bên cạnh.</a:t>
            </a:r>
          </a:p>
        </p:txBody>
      </p:sp>
      <p:sp>
        <p:nvSpPr>
          <p:cNvPr id="9" name="TextBox 8"/>
          <p:cNvSpPr txBox="1"/>
          <p:nvPr/>
        </p:nvSpPr>
        <p:spPr>
          <a:xfrm>
            <a:off x="5806440" y="1664208"/>
            <a:ext cx="2606040" cy="274320"/>
          </a:xfrm>
          <a:prstGeom prst="rect">
            <a:avLst/>
          </a:prstGeom>
          <a:noFill/>
        </p:spPr>
        <p:txBody>
          <a:bodyPr wrap="square" lIns="0" tIns="0" rIns="0" bIns="0" anchor="t">
            <a:noAutofit/>
          </a:bodyPr>
          <a:lstStyle/>
          <a:p>
            <a:pPr algn="ctr">
              <a:lnSpc>
                <a:spcPct val="110000"/>
              </a:lnSpc>
            </a:pPr>
            <a:r>
              <a:rPr sz="1100" b="1" i="0">
                <a:solidFill>
                  <a:srgbClr val="5B6673"/>
                </a:solidFill>
                <a:latin typeface="Segoe UI"/>
              </a:rPr>
              <a:t>ẢNH GỐC</a:t>
            </a:r>
          </a:p>
        </p:txBody>
      </p:sp>
      <p:sp>
        <p:nvSpPr>
          <p:cNvPr id="10" name="TextBox 9"/>
          <p:cNvSpPr txBox="1"/>
          <p:nvPr/>
        </p:nvSpPr>
        <p:spPr>
          <a:xfrm>
            <a:off x="8915400" y="1664208"/>
            <a:ext cx="2606040" cy="274320"/>
          </a:xfrm>
          <a:prstGeom prst="rect">
            <a:avLst/>
          </a:prstGeom>
          <a:noFill/>
        </p:spPr>
        <p:txBody>
          <a:bodyPr wrap="square" lIns="0" tIns="0" rIns="0" bIns="0" anchor="t">
            <a:noAutofit/>
          </a:bodyPr>
          <a:lstStyle/>
          <a:p>
            <a:pPr algn="ctr">
              <a:lnSpc>
                <a:spcPct val="110000"/>
              </a:lnSpc>
            </a:pPr>
            <a:r>
              <a:rPr sz="1100" b="1" i="0">
                <a:solidFill>
                  <a:srgbClr val="C75B39"/>
                </a:solidFill>
                <a:latin typeface="Segoe UI"/>
              </a:rPr>
              <a:t>SAU PHÂN VÙNG</a:t>
            </a:r>
          </a:p>
        </p:txBody>
      </p:sp>
      <p:sp>
        <p:nvSpPr>
          <p:cNvPr id="11" name="Rounded Rectangle 10"/>
          <p:cNvSpPr/>
          <p:nvPr/>
        </p:nvSpPr>
        <p:spPr>
          <a:xfrm>
            <a:off x="5806440" y="1965960"/>
            <a:ext cx="2606040" cy="3200400"/>
          </a:xfrm>
          <a:prstGeom prst="roundRect">
            <a:avLst>
              <a:gd name="adj" fmla="val 6000"/>
            </a:avLst>
          </a:prstGeom>
          <a:solidFill>
            <a:srgbClr val="E5EDEA"/>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915400" y="1965960"/>
            <a:ext cx="2606040" cy="3200400"/>
          </a:xfrm>
          <a:prstGeom prst="roundRect">
            <a:avLst>
              <a:gd name="adj" fmla="val 6000"/>
            </a:avLst>
          </a:prstGeom>
          <a:solidFill>
            <a:srgbClr val="F4EFE6"/>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067044" y="2286000"/>
            <a:ext cx="938174" cy="1088136"/>
          </a:xfrm>
          <a:prstGeom prst="ellipse">
            <a:avLst/>
          </a:prstGeom>
          <a:solidFill>
            <a:srgbClr val="C0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239762" y="2350008"/>
            <a:ext cx="886053" cy="960120"/>
          </a:xfrm>
          <a:prstGeom prst="rect">
            <a:avLst/>
          </a:prstGeom>
          <a:solidFill>
            <a:srgbClr val="4E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sosceles Triangle 14"/>
          <p:cNvSpPr/>
          <p:nvPr/>
        </p:nvSpPr>
        <p:spPr>
          <a:xfrm>
            <a:off x="6588252" y="3566160"/>
            <a:ext cx="833932" cy="960120"/>
          </a:xfrm>
          <a:prstGeom prst="triangle">
            <a:avLst/>
          </a:prstGeom>
          <a:solidFill>
            <a:srgbClr val="5E9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187641" y="3630168"/>
            <a:ext cx="938174" cy="1152144"/>
          </a:xfrm>
          <a:prstGeom prst="ellipse">
            <a:avLst/>
          </a:prstGeom>
          <a:solidFill>
            <a:srgbClr val="D0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14923" y="3886200"/>
            <a:ext cx="938174" cy="1056132"/>
          </a:xfrm>
          <a:prstGeom prst="rect">
            <a:avLst/>
          </a:prstGeom>
          <a:solidFill>
            <a:srgbClr val="7E6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76004" y="2286000"/>
            <a:ext cx="938174" cy="1088136"/>
          </a:xfrm>
          <a:prstGeom prst="ellipse">
            <a:avLst/>
          </a:prstGeom>
          <a:solidFill>
            <a:srgbClr val="D87B70"/>
          </a:solid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348722" y="2350008"/>
            <a:ext cx="886053" cy="960120"/>
          </a:xfrm>
          <a:prstGeom prst="rect">
            <a:avLst/>
          </a:prstGeom>
          <a:solidFill>
            <a:srgbClr val="7FA6C4"/>
          </a:solid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9697212" y="3566160"/>
            <a:ext cx="833932" cy="960120"/>
          </a:xfrm>
          <a:prstGeom prst="triangle">
            <a:avLst/>
          </a:prstGeom>
          <a:solidFill>
            <a:srgbClr val="8CC0A0"/>
          </a:solid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296601" y="3630168"/>
            <a:ext cx="938174" cy="1152144"/>
          </a:xfrm>
          <a:prstGeom prst="ellipse">
            <a:avLst/>
          </a:prstGeom>
          <a:solidFill>
            <a:srgbClr val="E3C37E"/>
          </a:solid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23883" y="3886200"/>
            <a:ext cx="938174" cy="1056132"/>
          </a:xfrm>
          <a:prstGeom prst="rect">
            <a:avLst/>
          </a:prstGeom>
          <a:solidFill>
            <a:srgbClr val="A897C9"/>
          </a:solid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ight Arrow 22"/>
          <p:cNvSpPr/>
          <p:nvPr/>
        </p:nvSpPr>
        <p:spPr>
          <a:xfrm>
            <a:off x="8458200" y="3291840"/>
            <a:ext cx="384048" cy="457200"/>
          </a:xfrm>
          <a:prstGeom prst="right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06440" y="5257800"/>
            <a:ext cx="5715000" cy="548640"/>
          </a:xfrm>
          <a:prstGeom prst="rect">
            <a:avLst/>
          </a:prstGeom>
          <a:noFill/>
        </p:spPr>
        <p:txBody>
          <a:bodyPr wrap="square" lIns="0" tIns="0" rIns="0" bIns="0" anchor="t">
            <a:noAutofit/>
          </a:bodyPr>
          <a:lstStyle/>
          <a:p>
            <a:pPr algn="ctr">
              <a:lnSpc>
                <a:spcPct val="110000"/>
              </a:lnSpc>
            </a:pPr>
            <a:r>
              <a:rPr sz="1300" b="0" i="0">
                <a:solidFill>
                  <a:srgbClr val="5B6673"/>
                </a:solidFill>
                <a:latin typeface="Segoe UI"/>
              </a:rPr>
              <a:t>Sau phân vùng, mỗi vùng được tách bạch để máy tính hoặc con người dễ phân tích.</a:t>
            </a:r>
          </a:p>
        </p:txBody>
      </p:sp>
      <p:cxnSp>
        <p:nvCxnSpPr>
          <p:cNvPr id="25" name="Connector 24"/>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27" name="TextBox 26"/>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HAI HƯỚNG TIẾP CẬN</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Hai cách nhìn cùng một bài toán</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783080"/>
            <a:ext cx="5212080" cy="361188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91072" y="1783080"/>
            <a:ext cx="5212080" cy="361188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965960"/>
            <a:ext cx="4663440" cy="274320"/>
          </a:xfrm>
          <a:prstGeom prst="rect">
            <a:avLst/>
          </a:prstGeom>
          <a:noFill/>
        </p:spPr>
        <p:txBody>
          <a:bodyPr wrap="square" lIns="0" tIns="0" rIns="0" bIns="0" anchor="t">
            <a:noAutofit/>
          </a:bodyPr>
          <a:lstStyle/>
          <a:p>
            <a:pPr algn="l">
              <a:lnSpc>
                <a:spcPct val="110000"/>
              </a:lnSpc>
            </a:pPr>
            <a:r>
              <a:rPr sz="1300" b="1" i="0">
                <a:solidFill>
                  <a:srgbClr val="2E7D6E"/>
                </a:solidFill>
                <a:latin typeface="Segoe UI"/>
              </a:rPr>
              <a:t>NỞ VÙNG · TỪ DƯỚI LÊN</a:t>
            </a:r>
          </a:p>
        </p:txBody>
      </p:sp>
      <p:sp>
        <p:nvSpPr>
          <p:cNvPr id="8" name="TextBox 7"/>
          <p:cNvSpPr txBox="1"/>
          <p:nvPr/>
        </p:nvSpPr>
        <p:spPr>
          <a:xfrm>
            <a:off x="6565392" y="1965960"/>
            <a:ext cx="4663440" cy="274320"/>
          </a:xfrm>
          <a:prstGeom prst="rect">
            <a:avLst/>
          </a:prstGeom>
          <a:noFill/>
        </p:spPr>
        <p:txBody>
          <a:bodyPr wrap="square" lIns="0" tIns="0" rIns="0" bIns="0" anchor="t">
            <a:noAutofit/>
          </a:bodyPr>
          <a:lstStyle/>
          <a:p>
            <a:pPr algn="l">
              <a:lnSpc>
                <a:spcPct val="110000"/>
              </a:lnSpc>
            </a:pPr>
            <a:r>
              <a:rPr sz="1300" b="1" i="0">
                <a:solidFill>
                  <a:srgbClr val="C75B39"/>
                </a:solidFill>
                <a:latin typeface="Segoe UI"/>
              </a:rPr>
              <a:t>GỘP VÙNG · TỪ TRÊN XUỐNG</a:t>
            </a:r>
          </a:p>
        </p:txBody>
      </p:sp>
      <p:sp>
        <p:nvSpPr>
          <p:cNvPr id="9" name="Oval 8"/>
          <p:cNvSpPr/>
          <p:nvPr/>
        </p:nvSpPr>
        <p:spPr>
          <a:xfrm>
            <a:off x="2423160" y="2331720"/>
            <a:ext cx="1737360" cy="1737360"/>
          </a:xfrm>
          <a:prstGeom prst="ellipse">
            <a:avLst/>
          </a:prstGeom>
          <a:solidFill>
            <a:srgbClr val="EA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51760" y="2560320"/>
            <a:ext cx="1280160" cy="1280160"/>
          </a:xfrm>
          <a:prstGeom prst="ellipse">
            <a:avLst/>
          </a:prstGeom>
          <a:solidFill>
            <a:srgbClr val="D6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871216" y="2779776"/>
            <a:ext cx="841248" cy="841248"/>
          </a:xfrm>
          <a:prstGeom prst="ellipse">
            <a:avLst/>
          </a:prstGeom>
          <a:solidFill>
            <a:srgbClr val="A9D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182112" y="3090672"/>
            <a:ext cx="219456" cy="219456"/>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224528"/>
            <a:ext cx="4663440" cy="1097280"/>
          </a:xfrm>
          <a:prstGeom prst="rect">
            <a:avLst/>
          </a:prstGeom>
          <a:noFill/>
        </p:spPr>
        <p:txBody>
          <a:bodyPr wrap="square" lIns="0" tIns="0" rIns="0" bIns="0" anchor="t">
            <a:noAutofit/>
          </a:bodyPr>
          <a:lstStyle/>
          <a:p>
            <a:pPr algn="l">
              <a:lnSpc>
                <a:spcPct val="115000"/>
              </a:lnSpc>
            </a:pPr>
            <a:r>
              <a:rPr sz="1500" b="0" i="0">
                <a:solidFill>
                  <a:srgbClr val="1F2933"/>
                </a:solidFill>
                <a:latin typeface="Segoe UI"/>
              </a:rPr>
              <a:t>Bắt đầu từ một điểm hạt giống, mở rộng dần ra ngoài khi gặp pixel tương tự. Vùng lớn dần cho đến khi gặp biên.</a:t>
            </a:r>
          </a:p>
        </p:txBody>
      </p:sp>
      <p:sp>
        <p:nvSpPr>
          <p:cNvPr id="14" name="Rectangle 13"/>
          <p:cNvSpPr/>
          <p:nvPr/>
        </p:nvSpPr>
        <p:spPr>
          <a:xfrm>
            <a:off x="8092440" y="2331720"/>
            <a:ext cx="822960" cy="822960"/>
          </a:xfrm>
          <a:prstGeom prst="rect">
            <a:avLst/>
          </a:prstGeom>
          <a:solidFill>
            <a:srgbClr val="A9D3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915400" y="2331720"/>
            <a:ext cx="822960" cy="82296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3154679"/>
            <a:ext cx="822960" cy="822960"/>
          </a:xfrm>
          <a:prstGeom prst="rect">
            <a:avLst/>
          </a:prstGeom>
          <a:solidFill>
            <a:srgbClr val="A9D3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15400" y="3154679"/>
            <a:ext cx="822960" cy="82296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2331720"/>
            <a:ext cx="1645920" cy="1645920"/>
          </a:xfrm>
          <a:prstGeom prst="rect">
            <a:avLst/>
          </a:prstGeom>
          <a:no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915400" y="2331720"/>
            <a:ext cx="0" cy="1645919"/>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92440" y="3154679"/>
            <a:ext cx="164592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65392" y="4224528"/>
            <a:ext cx="4663440" cy="1097280"/>
          </a:xfrm>
          <a:prstGeom prst="rect">
            <a:avLst/>
          </a:prstGeom>
          <a:noFill/>
        </p:spPr>
        <p:txBody>
          <a:bodyPr wrap="square" lIns="0" tIns="0" rIns="0" bIns="0" anchor="t">
            <a:noAutofit/>
          </a:bodyPr>
          <a:lstStyle/>
          <a:p>
            <a:pPr algn="l">
              <a:lnSpc>
                <a:spcPct val="115000"/>
              </a:lnSpc>
            </a:pPr>
            <a:r>
              <a:rPr sz="1500" b="0" i="0">
                <a:solidFill>
                  <a:srgbClr val="1F2933"/>
                </a:solidFill>
                <a:latin typeface="Segoe UI"/>
              </a:rPr>
              <a:t>Bắt đầu từ toàn bộ ảnh, tách nhỏ đến khi các phần đủ đồng nhất, rồi gộp các phần giống nhau lại.</a:t>
            </a:r>
          </a:p>
        </p:txBody>
      </p:sp>
      <p:sp>
        <p:nvSpPr>
          <p:cNvPr id="22" name="TextBox 21"/>
          <p:cNvSpPr txBox="1"/>
          <p:nvPr/>
        </p:nvSpPr>
        <p:spPr>
          <a:xfrm>
            <a:off x="685800" y="5623560"/>
            <a:ext cx="10817352" cy="457200"/>
          </a:xfrm>
          <a:prstGeom prst="rect">
            <a:avLst/>
          </a:prstGeom>
          <a:noFill/>
        </p:spPr>
        <p:txBody>
          <a:bodyPr wrap="square" lIns="0" tIns="0" rIns="0" bIns="0" anchor="t">
            <a:noAutofit/>
          </a:bodyPr>
          <a:lstStyle/>
          <a:p>
            <a:pPr algn="ctr">
              <a:lnSpc>
                <a:spcPct val="110000"/>
              </a:lnSpc>
            </a:pPr>
            <a:r>
              <a:rPr sz="1500" b="0" i="1">
                <a:solidFill>
                  <a:srgbClr val="5B6673"/>
                </a:solidFill>
                <a:latin typeface="Segoe UI"/>
              </a:rPr>
              <a:t>Một bên xây vùng từ một điểm; một bên chia nhỏ rồi ghép lại.</a:t>
            </a:r>
          </a:p>
        </p:txBody>
      </p:sp>
      <p:cxnSp>
        <p:nvCxnSpPr>
          <p:cNvPr id="23" name="Connector 22"/>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25" name="TextBox 24"/>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REGION GROWING</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dirty="0" err="1">
                <a:solidFill>
                  <a:srgbClr val="1F2933"/>
                </a:solidFill>
                <a:latin typeface="Cambria"/>
              </a:rPr>
              <a:t>Nở</a:t>
            </a:r>
            <a:r>
              <a:rPr sz="2900" b="1" i="0" dirty="0">
                <a:solidFill>
                  <a:srgbClr val="1F2933"/>
                </a:solidFill>
                <a:latin typeface="Cambria"/>
              </a:rPr>
              <a:t> </a:t>
            </a:r>
            <a:r>
              <a:rPr sz="2900" b="1" i="0" dirty="0" err="1">
                <a:solidFill>
                  <a:srgbClr val="1F2933"/>
                </a:solidFill>
                <a:latin typeface="Cambria"/>
              </a:rPr>
              <a:t>vùng</a:t>
            </a:r>
            <a:r>
              <a:rPr sz="2900" b="1" i="0" dirty="0">
                <a:solidFill>
                  <a:srgbClr val="1F2933"/>
                </a:solidFill>
                <a:latin typeface="Cambria"/>
              </a:rPr>
              <a:t>: </a:t>
            </a:r>
            <a:r>
              <a:rPr lang="en-US" sz="2900" b="1" i="0" dirty="0" err="1">
                <a:solidFill>
                  <a:srgbClr val="1F2933"/>
                </a:solidFill>
                <a:latin typeface="Cambria"/>
              </a:rPr>
              <a:t>đặt</a:t>
            </a:r>
            <a:r>
              <a:rPr lang="en-US" sz="2900" b="1" i="0" dirty="0">
                <a:solidFill>
                  <a:srgbClr val="1F2933"/>
                </a:solidFill>
                <a:latin typeface="Cambria"/>
              </a:rPr>
              <a:t> </a:t>
            </a:r>
            <a:r>
              <a:rPr lang="en-US" sz="2900" b="1" dirty="0" err="1">
                <a:solidFill>
                  <a:srgbClr val="1F2933"/>
                </a:solidFill>
                <a:latin typeface="Cambria"/>
              </a:rPr>
              <a:t>một</a:t>
            </a:r>
            <a:r>
              <a:rPr lang="en-US" sz="2900" b="1" dirty="0">
                <a:solidFill>
                  <a:srgbClr val="1F2933"/>
                </a:solidFill>
                <a:latin typeface="Cambria"/>
              </a:rPr>
              <a:t> seed</a:t>
            </a:r>
            <a:r>
              <a:rPr sz="2900" b="1" i="0" dirty="0">
                <a:solidFill>
                  <a:srgbClr val="1F2933"/>
                </a:solidFill>
                <a:latin typeface="Cambria"/>
              </a:rPr>
              <a:t>, </a:t>
            </a:r>
            <a:r>
              <a:rPr lang="en-US" sz="2900" b="1" dirty="0" err="1">
                <a:solidFill>
                  <a:srgbClr val="1F2933"/>
                </a:solidFill>
                <a:latin typeface="Cambria"/>
              </a:rPr>
              <a:t>sau</a:t>
            </a:r>
            <a:r>
              <a:rPr lang="en-US" sz="2900" b="1" dirty="0">
                <a:solidFill>
                  <a:srgbClr val="1F2933"/>
                </a:solidFill>
                <a:latin typeface="Cambria"/>
              </a:rPr>
              <a:t> </a:t>
            </a:r>
            <a:r>
              <a:rPr lang="en-US" sz="2900" b="1" dirty="0" err="1">
                <a:solidFill>
                  <a:srgbClr val="1F2933"/>
                </a:solidFill>
                <a:latin typeface="Cambria"/>
              </a:rPr>
              <a:t>đó</a:t>
            </a:r>
            <a:r>
              <a:rPr lang="en-US" sz="2900" b="1" dirty="0">
                <a:solidFill>
                  <a:srgbClr val="1F2933"/>
                </a:solidFill>
                <a:latin typeface="Cambria"/>
              </a:rPr>
              <a:t> lan </a:t>
            </a:r>
            <a:r>
              <a:rPr lang="en-US" sz="2900" b="1" dirty="0" err="1">
                <a:solidFill>
                  <a:srgbClr val="1F2933"/>
                </a:solidFill>
                <a:latin typeface="Cambria"/>
              </a:rPr>
              <a:t>ra</a:t>
            </a:r>
            <a:r>
              <a:rPr lang="en-US" sz="2900" b="1" dirty="0">
                <a:solidFill>
                  <a:srgbClr val="1F2933"/>
                </a:solidFill>
                <a:latin typeface="Cambria"/>
              </a:rPr>
              <a:t> </a:t>
            </a:r>
            <a:r>
              <a:rPr sz="2900" b="1" i="0" dirty="0" err="1">
                <a:solidFill>
                  <a:srgbClr val="1F2933"/>
                </a:solidFill>
                <a:latin typeface="Cambria"/>
              </a:rPr>
              <a:t>một</a:t>
            </a:r>
            <a:r>
              <a:rPr sz="2900" b="1" i="0" dirty="0">
                <a:solidFill>
                  <a:srgbClr val="1F2933"/>
                </a:solidFill>
                <a:latin typeface="Cambria"/>
              </a:rPr>
              <a:t> </a:t>
            </a:r>
            <a:r>
              <a:rPr sz="2900" b="1" i="0" dirty="0" err="1">
                <a:solidFill>
                  <a:srgbClr val="1F2933"/>
                </a:solidFill>
                <a:latin typeface="Cambria"/>
              </a:rPr>
              <a:t>vùng</a:t>
            </a:r>
            <a:r>
              <a:rPr sz="2900" b="1" i="0" dirty="0">
                <a:solidFill>
                  <a:srgbClr val="1F2933"/>
                </a:solidFill>
                <a:latin typeface="Cambria"/>
              </a:rPr>
              <a:t> </a:t>
            </a:r>
            <a:r>
              <a:rPr sz="2900" b="1" i="0" dirty="0" err="1">
                <a:solidFill>
                  <a:srgbClr val="1F2933"/>
                </a:solidFill>
                <a:latin typeface="Cambria"/>
              </a:rPr>
              <a:t>lớn</a:t>
            </a:r>
            <a:r>
              <a:rPr sz="2900" b="1" i="0" dirty="0">
                <a:solidFill>
                  <a:srgbClr val="1F2933"/>
                </a:solidFill>
                <a:latin typeface="Cambria"/>
              </a:rPr>
              <a:t> </a:t>
            </a:r>
            <a:r>
              <a:rPr sz="2900" b="1" i="0" dirty="0" err="1">
                <a:solidFill>
                  <a:srgbClr val="1F2933"/>
                </a:solidFill>
                <a:latin typeface="Cambria"/>
              </a:rPr>
              <a:t>dần</a:t>
            </a:r>
            <a:endParaRPr sz="2900" b="1" i="0" dirty="0">
              <a:solidFill>
                <a:srgbClr val="1F2933"/>
              </a:solidFill>
              <a:latin typeface="Cambria"/>
            </a:endParaRP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783080"/>
            <a:ext cx="4983480" cy="1417320"/>
          </a:xfrm>
          <a:prstGeom prst="rect">
            <a:avLst/>
          </a:prstGeom>
          <a:noFill/>
        </p:spPr>
        <p:txBody>
          <a:bodyPr wrap="square" lIns="0" tIns="0" rIns="0" bIns="0" anchor="t">
            <a:noAutofit/>
          </a:bodyPr>
          <a:lstStyle/>
          <a:p>
            <a:pPr algn="l">
              <a:lnSpc>
                <a:spcPct val="120000"/>
              </a:lnSpc>
            </a:pPr>
            <a:r>
              <a:rPr sz="1800" b="0" i="0">
                <a:solidFill>
                  <a:srgbClr val="1F2933"/>
                </a:solidFill>
                <a:latin typeface="Segoe UI"/>
              </a:rPr>
              <a:t>Hãy tưởng tượng một giọt mực loang trên giấy: nó bắt đầu từ một điểm rồi lan dần ra xung quanh, nhưng chỉ loang vào những nơi “cùng màu” với vùng đã có.</a:t>
            </a:r>
          </a:p>
        </p:txBody>
      </p:sp>
      <p:sp>
        <p:nvSpPr>
          <p:cNvPr id="6" name="TextBox 5"/>
          <p:cNvSpPr txBox="1"/>
          <p:nvPr/>
        </p:nvSpPr>
        <p:spPr>
          <a:xfrm>
            <a:off x="685800" y="3429000"/>
            <a:ext cx="4937760" cy="2103120"/>
          </a:xfrm>
          <a:prstGeom prst="rect">
            <a:avLst/>
          </a:prstGeom>
          <a:noFill/>
        </p:spPr>
        <p:txBody>
          <a:bodyPr wrap="square" lIns="0" tIns="0" rIns="0" bIns="0">
            <a:noAutofit/>
          </a:bodyPr>
          <a:lstStyle/>
          <a:p>
            <a:pPr>
              <a:lnSpc>
                <a:spcPct val="112000"/>
              </a:lnSpc>
              <a:spcAft>
                <a:spcPts val="1100"/>
              </a:spcAft>
            </a:pPr>
            <a:r>
              <a:rPr sz="1500" b="1" dirty="0">
                <a:solidFill>
                  <a:srgbClr val="C75B39"/>
                </a:solidFill>
                <a:latin typeface="Segoe UI"/>
              </a:rPr>
              <a:t>•   </a:t>
            </a:r>
            <a:r>
              <a:rPr sz="1500" b="1" dirty="0" err="1">
                <a:solidFill>
                  <a:srgbClr val="1F2933"/>
                </a:solidFill>
                <a:latin typeface="Segoe UI"/>
              </a:rPr>
              <a:t>Hạt</a:t>
            </a:r>
            <a:r>
              <a:rPr sz="1500" b="1" dirty="0">
                <a:solidFill>
                  <a:srgbClr val="1F2933"/>
                </a:solidFill>
                <a:latin typeface="Segoe UI"/>
              </a:rPr>
              <a:t> </a:t>
            </a:r>
            <a:r>
              <a:rPr sz="1500" b="1" dirty="0" err="1">
                <a:solidFill>
                  <a:srgbClr val="1F2933"/>
                </a:solidFill>
                <a:latin typeface="Segoe UI"/>
              </a:rPr>
              <a:t>giống</a:t>
            </a:r>
            <a:r>
              <a:rPr sz="1500" b="1" dirty="0">
                <a:solidFill>
                  <a:srgbClr val="1F2933"/>
                </a:solidFill>
                <a:latin typeface="Segoe UI"/>
              </a:rPr>
              <a:t> (seed)</a:t>
            </a:r>
            <a:r>
              <a:rPr sz="1500" dirty="0">
                <a:solidFill>
                  <a:srgbClr val="5B6673"/>
                </a:solidFill>
                <a:latin typeface="Segoe UI"/>
              </a:rPr>
              <a:t>  </a:t>
            </a:r>
            <a:r>
              <a:rPr sz="1500" dirty="0" err="1">
                <a:solidFill>
                  <a:srgbClr val="5B6673"/>
                </a:solidFill>
                <a:latin typeface="Segoe UI"/>
              </a:rPr>
              <a:t>điểm</a:t>
            </a:r>
            <a:r>
              <a:rPr sz="1500" dirty="0">
                <a:solidFill>
                  <a:srgbClr val="5B6673"/>
                </a:solidFill>
                <a:latin typeface="Segoe UI"/>
              </a:rPr>
              <a:t> </a:t>
            </a:r>
            <a:r>
              <a:rPr sz="1500" dirty="0" err="1">
                <a:solidFill>
                  <a:srgbClr val="5B6673"/>
                </a:solidFill>
                <a:latin typeface="Segoe UI"/>
              </a:rPr>
              <a:t>xuất</a:t>
            </a:r>
            <a:r>
              <a:rPr sz="1500" dirty="0">
                <a:solidFill>
                  <a:srgbClr val="5B6673"/>
                </a:solidFill>
                <a:latin typeface="Segoe UI"/>
              </a:rPr>
              <a:t> </a:t>
            </a:r>
            <a:r>
              <a:rPr sz="1500" dirty="0" err="1">
                <a:solidFill>
                  <a:srgbClr val="5B6673"/>
                </a:solidFill>
                <a:latin typeface="Segoe UI"/>
              </a:rPr>
              <a:t>phát</a:t>
            </a:r>
            <a:r>
              <a:rPr sz="1500" dirty="0">
                <a:solidFill>
                  <a:srgbClr val="5B6673"/>
                </a:solidFill>
                <a:latin typeface="Segoe UI"/>
              </a:rPr>
              <a:t> do </a:t>
            </a:r>
            <a:r>
              <a:rPr sz="1500" dirty="0" err="1">
                <a:solidFill>
                  <a:srgbClr val="5B6673"/>
                </a:solidFill>
                <a:latin typeface="Segoe UI"/>
              </a:rPr>
              <a:t>người</a:t>
            </a:r>
            <a:r>
              <a:rPr sz="1500" dirty="0">
                <a:solidFill>
                  <a:srgbClr val="5B6673"/>
                </a:solidFill>
                <a:latin typeface="Segoe UI"/>
              </a:rPr>
              <a:t> </a:t>
            </a:r>
            <a:r>
              <a:rPr sz="1500" dirty="0" err="1">
                <a:solidFill>
                  <a:srgbClr val="5B6673"/>
                </a:solidFill>
                <a:latin typeface="Segoe UI"/>
              </a:rPr>
              <a:t>dùng</a:t>
            </a:r>
            <a:r>
              <a:rPr sz="1500" dirty="0">
                <a:solidFill>
                  <a:srgbClr val="5B6673"/>
                </a:solidFill>
                <a:latin typeface="Segoe UI"/>
              </a:rPr>
              <a:t> </a:t>
            </a:r>
            <a:r>
              <a:rPr sz="1500" dirty="0" err="1">
                <a:solidFill>
                  <a:srgbClr val="5B6673"/>
                </a:solidFill>
                <a:latin typeface="Segoe UI"/>
              </a:rPr>
              <a:t>chọn</a:t>
            </a:r>
            <a:r>
              <a:rPr sz="1500" dirty="0">
                <a:solidFill>
                  <a:srgbClr val="5B6673"/>
                </a:solidFill>
                <a:latin typeface="Segoe UI"/>
              </a:rPr>
              <a:t>.</a:t>
            </a:r>
          </a:p>
          <a:p>
            <a:pPr>
              <a:lnSpc>
                <a:spcPct val="112000"/>
              </a:lnSpc>
              <a:spcAft>
                <a:spcPts val="1100"/>
              </a:spcAft>
            </a:pPr>
            <a:r>
              <a:rPr sz="1500" b="1" dirty="0">
                <a:solidFill>
                  <a:srgbClr val="C75B39"/>
                </a:solidFill>
                <a:latin typeface="Segoe UI"/>
              </a:rPr>
              <a:t>•   </a:t>
            </a:r>
            <a:r>
              <a:rPr sz="1500" b="1" dirty="0" err="1">
                <a:solidFill>
                  <a:srgbClr val="1F2933"/>
                </a:solidFill>
                <a:latin typeface="Segoe UI"/>
              </a:rPr>
              <a:t>Vùng</a:t>
            </a:r>
            <a:r>
              <a:rPr sz="1500" b="1" dirty="0">
                <a:solidFill>
                  <a:srgbClr val="1F2933"/>
                </a:solidFill>
                <a:latin typeface="Segoe UI"/>
              </a:rPr>
              <a:t> </a:t>
            </a:r>
            <a:r>
              <a:rPr lang="en-US" sz="1500" b="1" dirty="0">
                <a:solidFill>
                  <a:srgbClr val="1F2933"/>
                </a:solidFill>
                <a:latin typeface="Segoe UI"/>
              </a:rPr>
              <a:t>lan </a:t>
            </a:r>
            <a:r>
              <a:rPr lang="en-US" sz="1500" b="1" dirty="0" err="1">
                <a:solidFill>
                  <a:srgbClr val="1F2933"/>
                </a:solidFill>
                <a:latin typeface="Segoe UI"/>
              </a:rPr>
              <a:t>dần</a:t>
            </a:r>
            <a:r>
              <a:rPr sz="1500" b="1" dirty="0">
                <a:solidFill>
                  <a:srgbClr val="1F2933"/>
                </a:solidFill>
                <a:latin typeface="Segoe UI"/>
              </a:rPr>
              <a:t> </a:t>
            </a:r>
            <a:r>
              <a:rPr sz="1500" b="1" dirty="0" err="1">
                <a:solidFill>
                  <a:srgbClr val="1F2933"/>
                </a:solidFill>
                <a:latin typeface="Segoe UI"/>
              </a:rPr>
              <a:t>dần</a:t>
            </a:r>
            <a:r>
              <a:rPr sz="1500" dirty="0">
                <a:solidFill>
                  <a:srgbClr val="5B6673"/>
                </a:solidFill>
                <a:latin typeface="Segoe UI"/>
              </a:rPr>
              <a:t>  </a:t>
            </a:r>
            <a:r>
              <a:rPr sz="1500" dirty="0" err="1">
                <a:solidFill>
                  <a:srgbClr val="5B6673"/>
                </a:solidFill>
                <a:latin typeface="Segoe UI"/>
              </a:rPr>
              <a:t>bằng</a:t>
            </a:r>
            <a:r>
              <a:rPr sz="1500" dirty="0">
                <a:solidFill>
                  <a:srgbClr val="5B6673"/>
                </a:solidFill>
                <a:latin typeface="Segoe UI"/>
              </a:rPr>
              <a:t> </a:t>
            </a:r>
            <a:r>
              <a:rPr sz="1500" dirty="0" err="1">
                <a:solidFill>
                  <a:srgbClr val="5B6673"/>
                </a:solidFill>
                <a:latin typeface="Segoe UI"/>
              </a:rPr>
              <a:t>cách</a:t>
            </a:r>
            <a:r>
              <a:rPr sz="1500" dirty="0">
                <a:solidFill>
                  <a:srgbClr val="5B6673"/>
                </a:solidFill>
                <a:latin typeface="Segoe UI"/>
              </a:rPr>
              <a:t> </a:t>
            </a:r>
            <a:r>
              <a:rPr sz="1500" dirty="0" err="1">
                <a:solidFill>
                  <a:srgbClr val="5B6673"/>
                </a:solidFill>
                <a:latin typeface="Segoe UI"/>
              </a:rPr>
              <a:t>thêm</a:t>
            </a:r>
            <a:r>
              <a:rPr sz="1500" dirty="0">
                <a:solidFill>
                  <a:srgbClr val="5B6673"/>
                </a:solidFill>
                <a:latin typeface="Segoe UI"/>
              </a:rPr>
              <a:t> </a:t>
            </a:r>
            <a:r>
              <a:rPr sz="1500" dirty="0" err="1">
                <a:solidFill>
                  <a:srgbClr val="5B6673"/>
                </a:solidFill>
                <a:latin typeface="Segoe UI"/>
              </a:rPr>
              <a:t>các</a:t>
            </a:r>
            <a:r>
              <a:rPr sz="1500" dirty="0">
                <a:solidFill>
                  <a:srgbClr val="5B6673"/>
                </a:solidFill>
                <a:latin typeface="Segoe UI"/>
              </a:rPr>
              <a:t> pixel </a:t>
            </a:r>
            <a:r>
              <a:rPr sz="1500" dirty="0" err="1">
                <a:solidFill>
                  <a:srgbClr val="5B6673"/>
                </a:solidFill>
                <a:latin typeface="Segoe UI"/>
              </a:rPr>
              <a:t>lân</a:t>
            </a:r>
            <a:r>
              <a:rPr sz="1500" dirty="0">
                <a:solidFill>
                  <a:srgbClr val="5B6673"/>
                </a:solidFill>
                <a:latin typeface="Segoe UI"/>
              </a:rPr>
              <a:t> </a:t>
            </a:r>
            <a:r>
              <a:rPr sz="1500" dirty="0" err="1">
                <a:solidFill>
                  <a:srgbClr val="5B6673"/>
                </a:solidFill>
                <a:latin typeface="Segoe UI"/>
              </a:rPr>
              <a:t>cận</a:t>
            </a:r>
            <a:r>
              <a:rPr sz="1500" dirty="0">
                <a:solidFill>
                  <a:srgbClr val="5B6673"/>
                </a:solidFill>
                <a:latin typeface="Segoe UI"/>
              </a:rPr>
              <a:t> </a:t>
            </a:r>
            <a:r>
              <a:rPr sz="1500" dirty="0" err="1">
                <a:solidFill>
                  <a:srgbClr val="5B6673"/>
                </a:solidFill>
                <a:latin typeface="Segoe UI"/>
              </a:rPr>
              <a:t>đủ</a:t>
            </a:r>
            <a:r>
              <a:rPr sz="1500" dirty="0">
                <a:solidFill>
                  <a:srgbClr val="5B6673"/>
                </a:solidFill>
                <a:latin typeface="Segoe UI"/>
              </a:rPr>
              <a:t> </a:t>
            </a:r>
            <a:r>
              <a:rPr sz="1500" dirty="0" err="1">
                <a:solidFill>
                  <a:srgbClr val="5B6673"/>
                </a:solidFill>
                <a:latin typeface="Segoe UI"/>
              </a:rPr>
              <a:t>giống</a:t>
            </a:r>
            <a:r>
              <a:rPr sz="1500" dirty="0">
                <a:solidFill>
                  <a:srgbClr val="5B6673"/>
                </a:solidFill>
                <a:latin typeface="Segoe UI"/>
              </a:rPr>
              <a:t> </a:t>
            </a:r>
            <a:r>
              <a:rPr sz="1500" dirty="0" err="1">
                <a:solidFill>
                  <a:srgbClr val="5B6673"/>
                </a:solidFill>
                <a:latin typeface="Segoe UI"/>
              </a:rPr>
              <a:t>với</a:t>
            </a:r>
            <a:r>
              <a:rPr sz="1500" dirty="0">
                <a:solidFill>
                  <a:srgbClr val="5B6673"/>
                </a:solidFill>
                <a:latin typeface="Segoe UI"/>
              </a:rPr>
              <a:t> </a:t>
            </a:r>
            <a:r>
              <a:rPr sz="1500" dirty="0" err="1">
                <a:solidFill>
                  <a:srgbClr val="5B6673"/>
                </a:solidFill>
                <a:latin typeface="Segoe UI"/>
              </a:rPr>
              <a:t>vùng</a:t>
            </a:r>
            <a:r>
              <a:rPr sz="1500" dirty="0">
                <a:solidFill>
                  <a:srgbClr val="5B6673"/>
                </a:solidFill>
                <a:latin typeface="Segoe UI"/>
              </a:rPr>
              <a:t>.</a:t>
            </a:r>
          </a:p>
          <a:p>
            <a:pPr>
              <a:lnSpc>
                <a:spcPct val="112000"/>
              </a:lnSpc>
              <a:spcAft>
                <a:spcPts val="1100"/>
              </a:spcAft>
            </a:pPr>
            <a:r>
              <a:rPr sz="1500" b="1" dirty="0">
                <a:solidFill>
                  <a:srgbClr val="C75B39"/>
                </a:solidFill>
                <a:latin typeface="Segoe UI"/>
              </a:rPr>
              <a:t>•   </a:t>
            </a:r>
            <a:r>
              <a:rPr sz="1500" b="1" dirty="0" err="1">
                <a:solidFill>
                  <a:srgbClr val="1F2933"/>
                </a:solidFill>
                <a:latin typeface="Segoe UI"/>
              </a:rPr>
              <a:t>Dừng</a:t>
            </a:r>
            <a:r>
              <a:rPr sz="1500" b="1" dirty="0">
                <a:solidFill>
                  <a:srgbClr val="1F2933"/>
                </a:solidFill>
                <a:latin typeface="Segoe UI"/>
              </a:rPr>
              <a:t> </a:t>
            </a:r>
            <a:r>
              <a:rPr sz="1500" b="1" dirty="0" err="1">
                <a:solidFill>
                  <a:srgbClr val="1F2933"/>
                </a:solidFill>
                <a:latin typeface="Segoe UI"/>
              </a:rPr>
              <a:t>lại</a:t>
            </a:r>
            <a:r>
              <a:rPr sz="1500" dirty="0">
                <a:solidFill>
                  <a:srgbClr val="5B6673"/>
                </a:solidFill>
                <a:latin typeface="Segoe UI"/>
              </a:rPr>
              <a:t>  </a:t>
            </a:r>
            <a:r>
              <a:rPr sz="1500" dirty="0" err="1">
                <a:solidFill>
                  <a:srgbClr val="5B6673"/>
                </a:solidFill>
                <a:latin typeface="Segoe UI"/>
              </a:rPr>
              <a:t>khi</a:t>
            </a:r>
            <a:r>
              <a:rPr sz="1500" dirty="0">
                <a:solidFill>
                  <a:srgbClr val="5B6673"/>
                </a:solidFill>
                <a:latin typeface="Segoe UI"/>
              </a:rPr>
              <a:t> </a:t>
            </a:r>
            <a:r>
              <a:rPr sz="1500" dirty="0" err="1">
                <a:solidFill>
                  <a:srgbClr val="5B6673"/>
                </a:solidFill>
                <a:latin typeface="Segoe UI"/>
              </a:rPr>
              <a:t>không</a:t>
            </a:r>
            <a:r>
              <a:rPr sz="1500" dirty="0">
                <a:solidFill>
                  <a:srgbClr val="5B6673"/>
                </a:solidFill>
                <a:latin typeface="Segoe UI"/>
              </a:rPr>
              <a:t> </a:t>
            </a:r>
            <a:r>
              <a:rPr sz="1500" dirty="0" err="1">
                <a:solidFill>
                  <a:srgbClr val="5B6673"/>
                </a:solidFill>
                <a:latin typeface="Segoe UI"/>
              </a:rPr>
              <a:t>còn</a:t>
            </a:r>
            <a:r>
              <a:rPr sz="1500" dirty="0">
                <a:solidFill>
                  <a:srgbClr val="5B6673"/>
                </a:solidFill>
                <a:latin typeface="Segoe UI"/>
              </a:rPr>
              <a:t> pixel </a:t>
            </a:r>
            <a:r>
              <a:rPr sz="1500" dirty="0" err="1">
                <a:solidFill>
                  <a:srgbClr val="5B6673"/>
                </a:solidFill>
                <a:latin typeface="Segoe UI"/>
              </a:rPr>
              <a:t>lân</a:t>
            </a:r>
            <a:r>
              <a:rPr sz="1500" dirty="0">
                <a:solidFill>
                  <a:srgbClr val="5B6673"/>
                </a:solidFill>
                <a:latin typeface="Segoe UI"/>
              </a:rPr>
              <a:t> </a:t>
            </a:r>
            <a:r>
              <a:rPr sz="1500" dirty="0" err="1">
                <a:solidFill>
                  <a:srgbClr val="5B6673"/>
                </a:solidFill>
                <a:latin typeface="Segoe UI"/>
              </a:rPr>
              <a:t>cận</a:t>
            </a:r>
            <a:r>
              <a:rPr sz="1500" dirty="0">
                <a:solidFill>
                  <a:srgbClr val="5B6673"/>
                </a:solidFill>
                <a:latin typeface="Segoe UI"/>
              </a:rPr>
              <a:t> </a:t>
            </a:r>
            <a:r>
              <a:rPr sz="1500" dirty="0" err="1">
                <a:solidFill>
                  <a:srgbClr val="5B6673"/>
                </a:solidFill>
                <a:latin typeface="Segoe UI"/>
              </a:rPr>
              <a:t>nào</a:t>
            </a:r>
            <a:r>
              <a:rPr sz="1500" dirty="0">
                <a:solidFill>
                  <a:srgbClr val="5B6673"/>
                </a:solidFill>
                <a:latin typeface="Segoe UI"/>
              </a:rPr>
              <a:t> </a:t>
            </a:r>
            <a:r>
              <a:rPr sz="1500" dirty="0" err="1">
                <a:solidFill>
                  <a:srgbClr val="5B6673"/>
                </a:solidFill>
                <a:latin typeface="Segoe UI"/>
              </a:rPr>
              <a:t>thỏa</a:t>
            </a:r>
            <a:r>
              <a:rPr sz="1500" dirty="0">
                <a:solidFill>
                  <a:srgbClr val="5B6673"/>
                </a:solidFill>
                <a:latin typeface="Segoe UI"/>
              </a:rPr>
              <a:t> </a:t>
            </a:r>
            <a:r>
              <a:rPr sz="1500" dirty="0" err="1">
                <a:solidFill>
                  <a:srgbClr val="5B6673"/>
                </a:solidFill>
                <a:latin typeface="Segoe UI"/>
              </a:rPr>
              <a:t>điều</a:t>
            </a:r>
            <a:r>
              <a:rPr sz="1500" dirty="0">
                <a:solidFill>
                  <a:srgbClr val="5B6673"/>
                </a:solidFill>
                <a:latin typeface="Segoe UI"/>
              </a:rPr>
              <a:t> </a:t>
            </a:r>
            <a:r>
              <a:rPr sz="1500" dirty="0" err="1">
                <a:solidFill>
                  <a:srgbClr val="5B6673"/>
                </a:solidFill>
                <a:latin typeface="Segoe UI"/>
              </a:rPr>
              <a:t>kiện</a:t>
            </a:r>
            <a:r>
              <a:rPr sz="1500" dirty="0">
                <a:solidFill>
                  <a:srgbClr val="5B6673"/>
                </a:solidFill>
                <a:latin typeface="Segoe UI"/>
              </a:rPr>
              <a:t>.</a:t>
            </a:r>
          </a:p>
        </p:txBody>
      </p:sp>
      <p:sp>
        <p:nvSpPr>
          <p:cNvPr id="7" name="Rectangle 6"/>
          <p:cNvSpPr/>
          <p:nvPr/>
        </p:nvSpPr>
        <p:spPr>
          <a:xfrm>
            <a:off x="6492240" y="1874519"/>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040879" y="1874519"/>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89519" y="187451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38159" y="187451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686800" y="187451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235440" y="1874519"/>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784080" y="1874519"/>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332720" y="1874519"/>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92240" y="2423160"/>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040879" y="2423160"/>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589519" y="242316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59" y="242316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686800" y="242316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235440" y="2423160"/>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784080" y="2423160"/>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332720" y="2423160"/>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92240" y="2971800"/>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040879" y="297180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589519" y="297180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59" y="297180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686800" y="297180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235440" y="297180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784080" y="2971800"/>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332720" y="2971800"/>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92240" y="352043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040879" y="352043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589519" y="352043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138159" y="3520439"/>
            <a:ext cx="548640" cy="548640"/>
          </a:xfrm>
          <a:prstGeom prst="rect">
            <a:avLst/>
          </a:prstGeom>
          <a:solidFill>
            <a:srgbClr val="C75B3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686800" y="352043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35440" y="352043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784080" y="352043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332720" y="3520439"/>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92240" y="406907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040879" y="406907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589519" y="406907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138159" y="406907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686800" y="406907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235440" y="406907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784080" y="4069079"/>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332720" y="4069079"/>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492240" y="4617720"/>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040879" y="4617720"/>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589519" y="461772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138159" y="461772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686800" y="461772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9235440" y="4617720"/>
            <a:ext cx="548640" cy="548640"/>
          </a:xfrm>
          <a:prstGeom prst="rect">
            <a:avLst/>
          </a:prstGeom>
          <a:solidFill>
            <a:srgbClr val="EFD6C9"/>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784080" y="4617720"/>
            <a:ext cx="548640" cy="548640"/>
          </a:xfrm>
          <a:prstGeom prst="rect">
            <a:avLst/>
          </a:prstGeom>
          <a:solidFill>
            <a:srgbClr val="D6E8E3"/>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0332720" y="4617720"/>
            <a:ext cx="548640" cy="548640"/>
          </a:xfrm>
          <a:prstGeom prst="rect">
            <a:avLst/>
          </a:prstGeom>
          <a:solidFill>
            <a:srgbClr val="ECE7DC"/>
          </a:solidFill>
          <a:ln w="1905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357615" y="3739896"/>
            <a:ext cx="109728" cy="109728"/>
          </a:xfrm>
          <a:prstGeom prst="ellipse">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492240" y="5394960"/>
            <a:ext cx="182880" cy="18288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766560" y="5358384"/>
            <a:ext cx="1280160" cy="274320"/>
          </a:xfrm>
          <a:prstGeom prst="rect">
            <a:avLst/>
          </a:prstGeom>
          <a:noFill/>
        </p:spPr>
        <p:txBody>
          <a:bodyPr wrap="square" lIns="0" tIns="0" rIns="0" bIns="0" anchor="t">
            <a:noAutofit/>
          </a:bodyPr>
          <a:lstStyle/>
          <a:p>
            <a:pPr algn="l">
              <a:lnSpc>
                <a:spcPct val="110000"/>
              </a:lnSpc>
            </a:pPr>
            <a:r>
              <a:rPr sz="1100" b="0" i="0">
                <a:solidFill>
                  <a:srgbClr val="5B6673"/>
                </a:solidFill>
                <a:latin typeface="Segoe UI"/>
              </a:rPr>
              <a:t>Hạt giống</a:t>
            </a:r>
          </a:p>
        </p:txBody>
      </p:sp>
      <p:sp>
        <p:nvSpPr>
          <p:cNvPr id="58" name="Rectangle 57"/>
          <p:cNvSpPr/>
          <p:nvPr/>
        </p:nvSpPr>
        <p:spPr>
          <a:xfrm>
            <a:off x="7909560" y="5394960"/>
            <a:ext cx="182880" cy="182880"/>
          </a:xfrm>
          <a:prstGeom prst="rect">
            <a:avLst/>
          </a:prstGeom>
          <a:solidFill>
            <a:srgbClr val="EFD6C9"/>
          </a:solidFill>
          <a:ln w="12700">
            <a:solidFill>
              <a:srgbClr val="C75B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183879" y="5358384"/>
            <a:ext cx="1097280" cy="274320"/>
          </a:xfrm>
          <a:prstGeom prst="rect">
            <a:avLst/>
          </a:prstGeom>
          <a:noFill/>
        </p:spPr>
        <p:txBody>
          <a:bodyPr wrap="square" lIns="0" tIns="0" rIns="0" bIns="0" anchor="t">
            <a:noAutofit/>
          </a:bodyPr>
          <a:lstStyle/>
          <a:p>
            <a:pPr algn="l">
              <a:lnSpc>
                <a:spcPct val="110000"/>
              </a:lnSpc>
            </a:pPr>
            <a:r>
              <a:rPr sz="1100" b="0" i="0">
                <a:solidFill>
                  <a:srgbClr val="5B6673"/>
                </a:solidFill>
                <a:latin typeface="Segoe UI"/>
              </a:rPr>
              <a:t>Vùng đã nở</a:t>
            </a:r>
          </a:p>
        </p:txBody>
      </p:sp>
      <p:sp>
        <p:nvSpPr>
          <p:cNvPr id="60" name="Rectangle 59"/>
          <p:cNvSpPr/>
          <p:nvPr/>
        </p:nvSpPr>
        <p:spPr>
          <a:xfrm>
            <a:off x="9189720" y="5394960"/>
            <a:ext cx="182880" cy="182880"/>
          </a:xfrm>
          <a:prstGeom prst="rect">
            <a:avLst/>
          </a:prstGeom>
          <a:solidFill>
            <a:srgbClr val="D6E8E3"/>
          </a:solidFill>
          <a:ln w="12700">
            <a:solidFill>
              <a:srgbClr val="2E7D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464040" y="5358384"/>
            <a:ext cx="1920240" cy="274320"/>
          </a:xfrm>
          <a:prstGeom prst="rect">
            <a:avLst/>
          </a:prstGeom>
          <a:noFill/>
        </p:spPr>
        <p:txBody>
          <a:bodyPr wrap="square" lIns="0" tIns="0" rIns="0" bIns="0" anchor="t">
            <a:noAutofit/>
          </a:bodyPr>
          <a:lstStyle/>
          <a:p>
            <a:pPr algn="l">
              <a:lnSpc>
                <a:spcPct val="110000"/>
              </a:lnSpc>
            </a:pPr>
            <a:r>
              <a:rPr sz="1100" b="0" i="0">
                <a:solidFill>
                  <a:srgbClr val="5B6673"/>
                </a:solidFill>
                <a:latin typeface="Segoe UI"/>
              </a:rPr>
              <a:t>Biên đang xét</a:t>
            </a:r>
          </a:p>
        </p:txBody>
      </p:sp>
      <p:cxnSp>
        <p:nvCxnSpPr>
          <p:cNvPr id="62" name="Connector 61"/>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64" name="TextBox 63"/>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REGION GROWING</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Nở vùng: bốn bước lặp lại</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874519"/>
            <a:ext cx="2423160" cy="324612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8" y="2075688"/>
            <a:ext cx="512064" cy="51206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1</a:t>
            </a:r>
          </a:p>
        </p:txBody>
      </p:sp>
      <p:sp>
        <p:nvSpPr>
          <p:cNvPr id="7" name="TextBox 6"/>
          <p:cNvSpPr txBox="1"/>
          <p:nvPr/>
        </p:nvSpPr>
        <p:spPr>
          <a:xfrm>
            <a:off x="886968" y="2743200"/>
            <a:ext cx="2011680" cy="457200"/>
          </a:xfrm>
          <a:prstGeom prst="rect">
            <a:avLst/>
          </a:prstGeom>
          <a:noFill/>
        </p:spPr>
        <p:txBody>
          <a:bodyPr wrap="square" lIns="0" tIns="0" rIns="0" bIns="0" anchor="t">
            <a:noAutofit/>
          </a:bodyPr>
          <a:lstStyle/>
          <a:p>
            <a:pPr algn="l">
              <a:lnSpc>
                <a:spcPct val="110000"/>
              </a:lnSpc>
            </a:pPr>
            <a:r>
              <a:rPr sz="1600" b="1" i="0">
                <a:solidFill>
                  <a:srgbClr val="1F2933"/>
                </a:solidFill>
                <a:latin typeface="Segoe UI"/>
              </a:rPr>
              <a:t>Chọn hạt giống</a:t>
            </a:r>
          </a:p>
        </p:txBody>
      </p:sp>
      <p:sp>
        <p:nvSpPr>
          <p:cNvPr id="8" name="TextBox 7"/>
          <p:cNvSpPr txBox="1"/>
          <p:nvPr/>
        </p:nvSpPr>
        <p:spPr>
          <a:xfrm>
            <a:off x="886968" y="3246120"/>
            <a:ext cx="2011680" cy="1554480"/>
          </a:xfrm>
          <a:prstGeom prst="rect">
            <a:avLst/>
          </a:prstGeom>
          <a:noFill/>
        </p:spPr>
        <p:txBody>
          <a:bodyPr wrap="square" lIns="0" tIns="0" rIns="0" bIns="0" anchor="t">
            <a:noAutofit/>
          </a:bodyPr>
          <a:lstStyle/>
          <a:p>
            <a:pPr algn="l">
              <a:lnSpc>
                <a:spcPct val="115000"/>
              </a:lnSpc>
            </a:pPr>
            <a:r>
              <a:rPr sz="1350" b="0" i="0">
                <a:solidFill>
                  <a:srgbClr val="5B6673"/>
                </a:solidFill>
                <a:latin typeface="Segoe UI"/>
              </a:rPr>
              <a:t>Chỉ định một điểm nằm trong vùng quan tâm.</a:t>
            </a:r>
          </a:p>
        </p:txBody>
      </p:sp>
      <p:sp>
        <p:nvSpPr>
          <p:cNvPr id="9" name="Right Arrow 8"/>
          <p:cNvSpPr/>
          <p:nvPr/>
        </p:nvSpPr>
        <p:spPr>
          <a:xfrm>
            <a:off x="3145536" y="3154680"/>
            <a:ext cx="256032" cy="292608"/>
          </a:xfrm>
          <a:prstGeom prst="right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38144" y="1874519"/>
            <a:ext cx="2423160" cy="324612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39312" y="2075688"/>
            <a:ext cx="512064" cy="51206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2</a:t>
            </a:r>
          </a:p>
        </p:txBody>
      </p:sp>
      <p:sp>
        <p:nvSpPr>
          <p:cNvPr id="12" name="TextBox 11"/>
          <p:cNvSpPr txBox="1"/>
          <p:nvPr/>
        </p:nvSpPr>
        <p:spPr>
          <a:xfrm>
            <a:off x="3639312" y="2743200"/>
            <a:ext cx="2011680" cy="457200"/>
          </a:xfrm>
          <a:prstGeom prst="rect">
            <a:avLst/>
          </a:prstGeom>
          <a:noFill/>
        </p:spPr>
        <p:txBody>
          <a:bodyPr wrap="square" lIns="0" tIns="0" rIns="0" bIns="0" anchor="t">
            <a:noAutofit/>
          </a:bodyPr>
          <a:lstStyle/>
          <a:p>
            <a:pPr algn="l">
              <a:lnSpc>
                <a:spcPct val="110000"/>
              </a:lnSpc>
            </a:pPr>
            <a:r>
              <a:rPr sz="1600" b="1" i="0">
                <a:solidFill>
                  <a:srgbClr val="1F2933"/>
                </a:solidFill>
                <a:latin typeface="Segoe UI"/>
              </a:rPr>
              <a:t>Xét lân cận</a:t>
            </a:r>
          </a:p>
        </p:txBody>
      </p:sp>
      <p:sp>
        <p:nvSpPr>
          <p:cNvPr id="13" name="TextBox 12"/>
          <p:cNvSpPr txBox="1"/>
          <p:nvPr/>
        </p:nvSpPr>
        <p:spPr>
          <a:xfrm>
            <a:off x="3639312" y="3246120"/>
            <a:ext cx="2011680" cy="1554480"/>
          </a:xfrm>
          <a:prstGeom prst="rect">
            <a:avLst/>
          </a:prstGeom>
          <a:noFill/>
        </p:spPr>
        <p:txBody>
          <a:bodyPr wrap="square" lIns="0" tIns="0" rIns="0" bIns="0" anchor="t">
            <a:noAutofit/>
          </a:bodyPr>
          <a:lstStyle/>
          <a:p>
            <a:pPr algn="l">
              <a:lnSpc>
                <a:spcPct val="115000"/>
              </a:lnSpc>
            </a:pPr>
            <a:r>
              <a:rPr sz="1350" b="0" i="0">
                <a:solidFill>
                  <a:srgbClr val="5B6673"/>
                </a:solidFill>
                <a:latin typeface="Segoe UI"/>
              </a:rPr>
              <a:t>Xem các pixel ngay quanh vùng hiện tại.</a:t>
            </a:r>
          </a:p>
        </p:txBody>
      </p:sp>
      <p:sp>
        <p:nvSpPr>
          <p:cNvPr id="14" name="Right Arrow 13"/>
          <p:cNvSpPr/>
          <p:nvPr/>
        </p:nvSpPr>
        <p:spPr>
          <a:xfrm>
            <a:off x="5897879" y="3154680"/>
            <a:ext cx="256032" cy="292608"/>
          </a:xfrm>
          <a:prstGeom prst="right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90488" y="1874519"/>
            <a:ext cx="2423160" cy="324612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91655" y="2075688"/>
            <a:ext cx="512064" cy="51206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3</a:t>
            </a:r>
          </a:p>
        </p:txBody>
      </p:sp>
      <p:sp>
        <p:nvSpPr>
          <p:cNvPr id="17" name="TextBox 16"/>
          <p:cNvSpPr txBox="1"/>
          <p:nvPr/>
        </p:nvSpPr>
        <p:spPr>
          <a:xfrm>
            <a:off x="6391655" y="2743200"/>
            <a:ext cx="2011680" cy="457200"/>
          </a:xfrm>
          <a:prstGeom prst="rect">
            <a:avLst/>
          </a:prstGeom>
          <a:noFill/>
        </p:spPr>
        <p:txBody>
          <a:bodyPr wrap="square" lIns="0" tIns="0" rIns="0" bIns="0" anchor="t">
            <a:noAutofit/>
          </a:bodyPr>
          <a:lstStyle/>
          <a:p>
            <a:pPr algn="l">
              <a:lnSpc>
                <a:spcPct val="110000"/>
              </a:lnSpc>
            </a:pPr>
            <a:r>
              <a:rPr sz="1600" b="1" i="0">
                <a:solidFill>
                  <a:srgbClr val="1F2933"/>
                </a:solidFill>
                <a:latin typeface="Segoe UI"/>
              </a:rPr>
              <a:t>So sánh tương đồng</a:t>
            </a:r>
          </a:p>
        </p:txBody>
      </p:sp>
      <p:sp>
        <p:nvSpPr>
          <p:cNvPr id="18" name="TextBox 17"/>
          <p:cNvSpPr txBox="1"/>
          <p:nvPr/>
        </p:nvSpPr>
        <p:spPr>
          <a:xfrm>
            <a:off x="6391655" y="3246120"/>
            <a:ext cx="2011680" cy="1554480"/>
          </a:xfrm>
          <a:prstGeom prst="rect">
            <a:avLst/>
          </a:prstGeom>
          <a:noFill/>
        </p:spPr>
        <p:txBody>
          <a:bodyPr wrap="square" lIns="0" tIns="0" rIns="0" bIns="0" anchor="t">
            <a:noAutofit/>
          </a:bodyPr>
          <a:lstStyle/>
          <a:p>
            <a:pPr algn="l">
              <a:lnSpc>
                <a:spcPct val="115000"/>
              </a:lnSpc>
            </a:pPr>
            <a:r>
              <a:rPr sz="1350" b="0" i="0">
                <a:solidFill>
                  <a:srgbClr val="5B6673"/>
                </a:solidFill>
                <a:latin typeface="Segoe UI"/>
              </a:rPr>
              <a:t>Màu hoặc độ sáng có nằm trong ngưỡng cho phép?</a:t>
            </a:r>
          </a:p>
        </p:txBody>
      </p:sp>
      <p:sp>
        <p:nvSpPr>
          <p:cNvPr id="19" name="Right Arrow 18"/>
          <p:cNvSpPr/>
          <p:nvPr/>
        </p:nvSpPr>
        <p:spPr>
          <a:xfrm>
            <a:off x="8650224" y="3154680"/>
            <a:ext cx="256032" cy="292608"/>
          </a:xfrm>
          <a:prstGeom prst="right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42832" y="1874519"/>
            <a:ext cx="2423160" cy="324612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144000" y="2075688"/>
            <a:ext cx="512064" cy="51206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4</a:t>
            </a:r>
          </a:p>
        </p:txBody>
      </p:sp>
      <p:sp>
        <p:nvSpPr>
          <p:cNvPr id="22" name="TextBox 21"/>
          <p:cNvSpPr txBox="1"/>
          <p:nvPr/>
        </p:nvSpPr>
        <p:spPr>
          <a:xfrm>
            <a:off x="9144000" y="2743200"/>
            <a:ext cx="2011680" cy="457200"/>
          </a:xfrm>
          <a:prstGeom prst="rect">
            <a:avLst/>
          </a:prstGeom>
          <a:noFill/>
        </p:spPr>
        <p:txBody>
          <a:bodyPr wrap="square" lIns="0" tIns="0" rIns="0" bIns="0" anchor="t">
            <a:noAutofit/>
          </a:bodyPr>
          <a:lstStyle/>
          <a:p>
            <a:pPr algn="l">
              <a:lnSpc>
                <a:spcPct val="110000"/>
              </a:lnSpc>
            </a:pPr>
            <a:r>
              <a:rPr sz="1600" b="1" i="0">
                <a:solidFill>
                  <a:srgbClr val="1F2933"/>
                </a:solidFill>
                <a:latin typeface="Segoe UI"/>
              </a:rPr>
              <a:t>Mở rộng &amp; lặp</a:t>
            </a:r>
          </a:p>
        </p:txBody>
      </p:sp>
      <p:sp>
        <p:nvSpPr>
          <p:cNvPr id="23" name="TextBox 22"/>
          <p:cNvSpPr txBox="1"/>
          <p:nvPr/>
        </p:nvSpPr>
        <p:spPr>
          <a:xfrm>
            <a:off x="9144000" y="3246120"/>
            <a:ext cx="2011680" cy="1554480"/>
          </a:xfrm>
          <a:prstGeom prst="rect">
            <a:avLst/>
          </a:prstGeom>
          <a:noFill/>
        </p:spPr>
        <p:txBody>
          <a:bodyPr wrap="square" lIns="0" tIns="0" rIns="0" bIns="0" anchor="t">
            <a:noAutofit/>
          </a:bodyPr>
          <a:lstStyle/>
          <a:p>
            <a:pPr algn="l">
              <a:lnSpc>
                <a:spcPct val="115000"/>
              </a:lnSpc>
            </a:pPr>
            <a:r>
              <a:rPr sz="1350" b="0" i="0">
                <a:solidFill>
                  <a:srgbClr val="5B6673"/>
                </a:solidFill>
                <a:latin typeface="Segoe UI"/>
              </a:rPr>
              <a:t>Thêm pixel đạt điều kiện vào vùng; tiếp tục đến khi dừng.</a:t>
            </a:r>
          </a:p>
        </p:txBody>
      </p:sp>
      <p:sp>
        <p:nvSpPr>
          <p:cNvPr id="24" name="Rounded Rectangle 23"/>
          <p:cNvSpPr/>
          <p:nvPr/>
        </p:nvSpPr>
        <p:spPr>
          <a:xfrm>
            <a:off x="685800" y="5440680"/>
            <a:ext cx="10817352" cy="658368"/>
          </a:xfrm>
          <a:prstGeom prst="roundRect">
            <a:avLst>
              <a:gd name="adj" fmla="val 6000"/>
            </a:avLst>
          </a:prstGeom>
          <a:solidFill>
            <a:srgbClr val="D6E8E3"/>
          </a:solidFill>
          <a:ln w="12700">
            <a:solidFill>
              <a:srgbClr val="CF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5596128"/>
            <a:ext cx="10378440" cy="411480"/>
          </a:xfrm>
          <a:prstGeom prst="rect">
            <a:avLst/>
          </a:prstGeom>
          <a:noFill/>
        </p:spPr>
        <p:txBody>
          <a:bodyPr wrap="square" lIns="0" tIns="0" rIns="0" bIns="0" anchor="t">
            <a:noAutofit/>
          </a:bodyPr>
          <a:lstStyle/>
          <a:p>
            <a:pPr algn="l">
              <a:lnSpc>
                <a:spcPct val="110000"/>
              </a:lnSpc>
            </a:pPr>
            <a:r>
              <a:rPr sz="1350" b="0" i="0">
                <a:solidFill>
                  <a:srgbClr val="2F6B60"/>
                </a:solidFill>
                <a:latin typeface="Segoe UI"/>
              </a:rPr>
              <a:t>“Lân cận” có thể là 4 pixel kề cạnh hoặc 8 pixel bao quanh — càng nhiều hướng, vùng càng dễ lan theo đường chéo.</a:t>
            </a:r>
          </a:p>
        </p:txBody>
      </p:sp>
      <p:cxnSp>
        <p:nvCxnSpPr>
          <p:cNvPr id="26" name="Connector 25"/>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28" name="TextBox 27"/>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REGION GROWING</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dirty="0" err="1">
                <a:solidFill>
                  <a:srgbClr val="1F2933"/>
                </a:solidFill>
                <a:latin typeface="Cambria"/>
              </a:rPr>
              <a:t>Nở</a:t>
            </a:r>
            <a:r>
              <a:rPr sz="2900" b="1" i="0" dirty="0">
                <a:solidFill>
                  <a:srgbClr val="1F2933"/>
                </a:solidFill>
                <a:latin typeface="Cambria"/>
              </a:rPr>
              <a:t> </a:t>
            </a:r>
            <a:r>
              <a:rPr sz="2900" b="1" i="0" dirty="0" err="1">
                <a:solidFill>
                  <a:srgbClr val="1F2933"/>
                </a:solidFill>
                <a:latin typeface="Cambria"/>
              </a:rPr>
              <a:t>vùng</a:t>
            </a:r>
            <a:r>
              <a:rPr sz="2900" b="1" i="0" dirty="0">
                <a:solidFill>
                  <a:srgbClr val="1F2933"/>
                </a:solidFill>
                <a:latin typeface="Cambria"/>
              </a:rPr>
              <a:t>: </a:t>
            </a:r>
            <a:r>
              <a:rPr lang="en-US" sz="2900" b="1" dirty="0" err="1">
                <a:solidFill>
                  <a:srgbClr val="1F2933"/>
                </a:solidFill>
                <a:latin typeface="Cambria"/>
              </a:rPr>
              <a:t>các</a:t>
            </a:r>
            <a:r>
              <a:rPr sz="2900" b="1" i="0" dirty="0">
                <a:solidFill>
                  <a:srgbClr val="1F2933"/>
                </a:solidFill>
                <a:latin typeface="Cambria"/>
              </a:rPr>
              <a:t> </a:t>
            </a:r>
            <a:r>
              <a:rPr sz="2900" b="1" i="0" dirty="0" err="1">
                <a:solidFill>
                  <a:srgbClr val="1F2933"/>
                </a:solidFill>
                <a:latin typeface="Cambria"/>
              </a:rPr>
              <a:t>yếu</a:t>
            </a:r>
            <a:r>
              <a:rPr sz="2900" b="1" i="0" dirty="0">
                <a:solidFill>
                  <a:srgbClr val="1F2933"/>
                </a:solidFill>
                <a:latin typeface="Cambria"/>
              </a:rPr>
              <a:t> </a:t>
            </a:r>
            <a:r>
              <a:rPr sz="2900" b="1" i="0" dirty="0" err="1">
                <a:solidFill>
                  <a:srgbClr val="1F2933"/>
                </a:solidFill>
                <a:latin typeface="Cambria"/>
              </a:rPr>
              <a:t>tố</a:t>
            </a:r>
            <a:r>
              <a:rPr sz="2900" b="1" i="0" dirty="0">
                <a:solidFill>
                  <a:srgbClr val="1F2933"/>
                </a:solidFill>
                <a:latin typeface="Cambria"/>
              </a:rPr>
              <a:t> </a:t>
            </a:r>
            <a:r>
              <a:rPr sz="2900" b="1" i="0" dirty="0" err="1">
                <a:solidFill>
                  <a:srgbClr val="1F2933"/>
                </a:solidFill>
                <a:latin typeface="Cambria"/>
              </a:rPr>
              <a:t>quyết</a:t>
            </a:r>
            <a:r>
              <a:rPr sz="2900" b="1" i="0" dirty="0">
                <a:solidFill>
                  <a:srgbClr val="1F2933"/>
                </a:solidFill>
                <a:latin typeface="Cambria"/>
              </a:rPr>
              <a:t> </a:t>
            </a:r>
            <a:r>
              <a:rPr sz="2900" b="1" i="0" dirty="0" err="1">
                <a:solidFill>
                  <a:srgbClr val="1F2933"/>
                </a:solidFill>
                <a:latin typeface="Cambria"/>
              </a:rPr>
              <a:t>định</a:t>
            </a:r>
            <a:r>
              <a:rPr sz="2900" b="1" i="0" dirty="0">
                <a:solidFill>
                  <a:srgbClr val="1F2933"/>
                </a:solidFill>
                <a:latin typeface="Cambria"/>
              </a:rPr>
              <a:t> </a:t>
            </a:r>
            <a:r>
              <a:rPr sz="2900" b="1" i="0" dirty="0" err="1">
                <a:solidFill>
                  <a:srgbClr val="1F2933"/>
                </a:solidFill>
                <a:latin typeface="Cambria"/>
              </a:rPr>
              <a:t>kết</a:t>
            </a:r>
            <a:r>
              <a:rPr sz="2900" b="1" i="0" dirty="0">
                <a:solidFill>
                  <a:srgbClr val="1F2933"/>
                </a:solidFill>
                <a:latin typeface="Cambria"/>
              </a:rPr>
              <a:t> </a:t>
            </a:r>
            <a:r>
              <a:rPr sz="2900" b="1" i="0" dirty="0" err="1">
                <a:solidFill>
                  <a:srgbClr val="1F2933"/>
                </a:solidFill>
                <a:latin typeface="Cambria"/>
              </a:rPr>
              <a:t>quả</a:t>
            </a:r>
            <a:endParaRPr sz="2900" b="1" i="0" dirty="0">
              <a:solidFill>
                <a:srgbClr val="1F2933"/>
              </a:solidFill>
              <a:latin typeface="Cambria"/>
            </a:endParaRP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828800"/>
            <a:ext cx="3429000" cy="329184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869948" y="2075688"/>
            <a:ext cx="1060704" cy="1060704"/>
          </a:xfrm>
          <a:prstGeom prst="ellipse">
            <a:avLst/>
          </a:prstGeom>
          <a:noFill/>
          <a:ln w="25400">
            <a:solidFill>
              <a:srgbClr val="C75B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052828" y="2258568"/>
            <a:ext cx="694944" cy="694944"/>
          </a:xfrm>
          <a:prstGeom prst="ellipse">
            <a:avLst/>
          </a:prstGeom>
          <a:noFill/>
          <a:ln w="25400">
            <a:solidFill>
              <a:srgbClr val="C75B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235708" y="2441448"/>
            <a:ext cx="329184" cy="329184"/>
          </a:xfrm>
          <a:prstGeom prst="ellipse">
            <a:avLst/>
          </a:prstGeom>
          <a:noFill/>
          <a:ln w="25400">
            <a:solidFill>
              <a:srgbClr val="C75B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327148" y="2532888"/>
            <a:ext cx="146304" cy="14630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337560"/>
            <a:ext cx="2971800" cy="365760"/>
          </a:xfrm>
          <a:prstGeom prst="rect">
            <a:avLst/>
          </a:prstGeom>
          <a:noFill/>
        </p:spPr>
        <p:txBody>
          <a:bodyPr wrap="square" lIns="0" tIns="0" rIns="0" bIns="0" anchor="t">
            <a:noAutofit/>
          </a:bodyPr>
          <a:lstStyle/>
          <a:p>
            <a:pPr algn="ctr">
              <a:lnSpc>
                <a:spcPct val="110000"/>
              </a:lnSpc>
            </a:pPr>
            <a:r>
              <a:rPr sz="1600" b="1" i="0">
                <a:solidFill>
                  <a:srgbClr val="1F2933"/>
                </a:solidFill>
                <a:latin typeface="Segoe UI"/>
              </a:rPr>
              <a:t>Vị trí hạt giống</a:t>
            </a:r>
          </a:p>
        </p:txBody>
      </p:sp>
      <p:sp>
        <p:nvSpPr>
          <p:cNvPr id="11" name="TextBox 10"/>
          <p:cNvSpPr txBox="1"/>
          <p:nvPr/>
        </p:nvSpPr>
        <p:spPr>
          <a:xfrm>
            <a:off x="1005840" y="3767328"/>
            <a:ext cx="2788920" cy="1097280"/>
          </a:xfrm>
          <a:prstGeom prst="rect">
            <a:avLst/>
          </a:prstGeom>
          <a:noFill/>
        </p:spPr>
        <p:txBody>
          <a:bodyPr wrap="square" lIns="0" tIns="0" rIns="0" bIns="0" anchor="t">
            <a:noAutofit/>
          </a:bodyPr>
          <a:lstStyle/>
          <a:p>
            <a:pPr algn="ctr">
              <a:lnSpc>
                <a:spcPct val="115000"/>
              </a:lnSpc>
            </a:pPr>
            <a:r>
              <a:rPr sz="1320" b="0" i="0">
                <a:solidFill>
                  <a:srgbClr val="5B6673"/>
                </a:solidFill>
                <a:latin typeface="Segoe UI"/>
              </a:rPr>
              <a:t>Đặt ở đâu, vùng bắt đầu từ đó. Nhiều hạt giống tạo nhiều vùng.</a:t>
            </a:r>
          </a:p>
        </p:txBody>
      </p:sp>
      <p:sp>
        <p:nvSpPr>
          <p:cNvPr id="12" name="Rounded Rectangle 11"/>
          <p:cNvSpPr/>
          <p:nvPr/>
        </p:nvSpPr>
        <p:spPr>
          <a:xfrm>
            <a:off x="4379976" y="1828800"/>
            <a:ext cx="3429000" cy="329184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882896" y="2523744"/>
            <a:ext cx="2423160" cy="164592"/>
          </a:xfrm>
          <a:prstGeom prst="round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80176" y="2450592"/>
            <a:ext cx="310896" cy="310896"/>
          </a:xfrm>
          <a:prstGeom prst="ellipse">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82896" y="2743200"/>
            <a:ext cx="548640" cy="228600"/>
          </a:xfrm>
          <a:prstGeom prst="rect">
            <a:avLst/>
          </a:prstGeom>
          <a:noFill/>
        </p:spPr>
        <p:txBody>
          <a:bodyPr wrap="square" lIns="0" tIns="0" rIns="0" bIns="0" anchor="t">
            <a:noAutofit/>
          </a:bodyPr>
          <a:lstStyle/>
          <a:p>
            <a:pPr algn="l">
              <a:lnSpc>
                <a:spcPct val="110000"/>
              </a:lnSpc>
            </a:pPr>
            <a:r>
              <a:rPr sz="1000" b="0" i="0">
                <a:solidFill>
                  <a:srgbClr val="5B6673"/>
                </a:solidFill>
                <a:latin typeface="Segoe UI"/>
              </a:rPr>
              <a:t>nhỏ</a:t>
            </a:r>
          </a:p>
        </p:txBody>
      </p:sp>
      <p:sp>
        <p:nvSpPr>
          <p:cNvPr id="16" name="TextBox 15"/>
          <p:cNvSpPr txBox="1"/>
          <p:nvPr/>
        </p:nvSpPr>
        <p:spPr>
          <a:xfrm>
            <a:off x="6757416" y="2743200"/>
            <a:ext cx="548640" cy="228600"/>
          </a:xfrm>
          <a:prstGeom prst="rect">
            <a:avLst/>
          </a:prstGeom>
          <a:noFill/>
        </p:spPr>
        <p:txBody>
          <a:bodyPr wrap="square" lIns="0" tIns="0" rIns="0" bIns="0" anchor="t">
            <a:noAutofit/>
          </a:bodyPr>
          <a:lstStyle/>
          <a:p>
            <a:pPr algn="r">
              <a:lnSpc>
                <a:spcPct val="110000"/>
              </a:lnSpc>
            </a:pPr>
            <a:r>
              <a:rPr sz="1000" b="0" i="0">
                <a:solidFill>
                  <a:srgbClr val="5B6673"/>
                </a:solidFill>
                <a:latin typeface="Segoe UI"/>
              </a:rPr>
              <a:t>lớn</a:t>
            </a:r>
          </a:p>
        </p:txBody>
      </p:sp>
      <p:sp>
        <p:nvSpPr>
          <p:cNvPr id="17" name="TextBox 16"/>
          <p:cNvSpPr txBox="1"/>
          <p:nvPr/>
        </p:nvSpPr>
        <p:spPr>
          <a:xfrm>
            <a:off x="4608576" y="3337560"/>
            <a:ext cx="2971800" cy="365760"/>
          </a:xfrm>
          <a:prstGeom prst="rect">
            <a:avLst/>
          </a:prstGeom>
          <a:noFill/>
        </p:spPr>
        <p:txBody>
          <a:bodyPr wrap="square" lIns="0" tIns="0" rIns="0" bIns="0" anchor="t">
            <a:noAutofit/>
          </a:bodyPr>
          <a:lstStyle/>
          <a:p>
            <a:pPr algn="ctr">
              <a:lnSpc>
                <a:spcPct val="110000"/>
              </a:lnSpc>
            </a:pPr>
            <a:r>
              <a:rPr sz="1600" b="1" i="0">
                <a:solidFill>
                  <a:srgbClr val="1F2933"/>
                </a:solidFill>
                <a:latin typeface="Segoe UI"/>
              </a:rPr>
              <a:t>Ngưỡng tương đồng</a:t>
            </a:r>
          </a:p>
        </p:txBody>
      </p:sp>
      <p:sp>
        <p:nvSpPr>
          <p:cNvPr id="18" name="TextBox 17"/>
          <p:cNvSpPr txBox="1"/>
          <p:nvPr/>
        </p:nvSpPr>
        <p:spPr>
          <a:xfrm>
            <a:off x="4700016" y="3767328"/>
            <a:ext cx="2788920" cy="1097280"/>
          </a:xfrm>
          <a:prstGeom prst="rect">
            <a:avLst/>
          </a:prstGeom>
          <a:noFill/>
        </p:spPr>
        <p:txBody>
          <a:bodyPr wrap="square" lIns="0" tIns="0" rIns="0" bIns="0" anchor="t">
            <a:noAutofit/>
          </a:bodyPr>
          <a:lstStyle/>
          <a:p>
            <a:pPr algn="ctr">
              <a:lnSpc>
                <a:spcPct val="115000"/>
              </a:lnSpc>
            </a:pPr>
            <a:r>
              <a:rPr sz="1320" b="0" i="0">
                <a:solidFill>
                  <a:srgbClr val="5B6673"/>
                </a:solidFill>
                <a:latin typeface="Segoe UI"/>
              </a:rPr>
              <a:t>Nhỏ: vùng chặt, dễ thiếu. Lớn: vùng rộng, dễ tràn qua biên.</a:t>
            </a:r>
          </a:p>
        </p:txBody>
      </p:sp>
      <p:sp>
        <p:nvSpPr>
          <p:cNvPr id="19" name="Rounded Rectangle 18"/>
          <p:cNvSpPr/>
          <p:nvPr/>
        </p:nvSpPr>
        <p:spPr>
          <a:xfrm>
            <a:off x="8074152" y="1828800"/>
            <a:ext cx="3429000" cy="329184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19972" y="2377440"/>
            <a:ext cx="411480" cy="411480"/>
          </a:xfrm>
          <a:prstGeom prst="roundRect">
            <a:avLst/>
          </a:prstGeom>
          <a:solidFill>
            <a:srgbClr val="D6E8E3"/>
          </a:solidFill>
          <a:ln w="15240">
            <a:solidFill>
              <a:srgbClr val="2E7D6E"/>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300" b="1">
                <a:solidFill>
                  <a:srgbClr val="2F6B60"/>
                </a:solidFill>
                <a:latin typeface="Segoe UI"/>
              </a:rPr>
              <a:t>1</a:t>
            </a:r>
          </a:p>
        </p:txBody>
      </p:sp>
      <p:sp>
        <p:nvSpPr>
          <p:cNvPr id="21" name="Right Arrow 20"/>
          <p:cNvSpPr/>
          <p:nvPr/>
        </p:nvSpPr>
        <p:spPr>
          <a:xfrm>
            <a:off x="9377172" y="2532888"/>
            <a:ext cx="146304" cy="146304"/>
          </a:xfrm>
          <a:prstGeom prst="rightArrow">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578340" y="2377440"/>
            <a:ext cx="411480" cy="411480"/>
          </a:xfrm>
          <a:prstGeom prst="roundRect">
            <a:avLst/>
          </a:prstGeom>
          <a:solidFill>
            <a:srgbClr val="D6E8E3"/>
          </a:solidFill>
          <a:ln w="15240">
            <a:solidFill>
              <a:srgbClr val="2E7D6E"/>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300" b="1">
                <a:solidFill>
                  <a:srgbClr val="2F6B60"/>
                </a:solidFill>
                <a:latin typeface="Segoe UI"/>
              </a:rPr>
              <a:t>2</a:t>
            </a:r>
          </a:p>
        </p:txBody>
      </p:sp>
      <p:sp>
        <p:nvSpPr>
          <p:cNvPr id="23" name="Right Arrow 22"/>
          <p:cNvSpPr/>
          <p:nvPr/>
        </p:nvSpPr>
        <p:spPr>
          <a:xfrm>
            <a:off x="10035540" y="2532888"/>
            <a:ext cx="146304" cy="146304"/>
          </a:xfrm>
          <a:prstGeom prst="rightArrow">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236708" y="2377440"/>
            <a:ext cx="411480" cy="411480"/>
          </a:xfrm>
          <a:prstGeom prst="roundRect">
            <a:avLst/>
          </a:prstGeom>
          <a:solidFill>
            <a:srgbClr val="D6E8E3"/>
          </a:solidFill>
          <a:ln w="15240">
            <a:solidFill>
              <a:srgbClr val="2E7D6E"/>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300" b="1">
                <a:solidFill>
                  <a:srgbClr val="2F6B60"/>
                </a:solidFill>
                <a:latin typeface="Segoe UI"/>
              </a:rPr>
              <a:t>3</a:t>
            </a:r>
          </a:p>
        </p:txBody>
      </p:sp>
      <p:sp>
        <p:nvSpPr>
          <p:cNvPr id="25" name="TextBox 24"/>
          <p:cNvSpPr txBox="1"/>
          <p:nvPr/>
        </p:nvSpPr>
        <p:spPr>
          <a:xfrm>
            <a:off x="8302752" y="3337560"/>
            <a:ext cx="2971800" cy="365760"/>
          </a:xfrm>
          <a:prstGeom prst="rect">
            <a:avLst/>
          </a:prstGeom>
          <a:noFill/>
        </p:spPr>
        <p:txBody>
          <a:bodyPr wrap="square" lIns="0" tIns="0" rIns="0" bIns="0" anchor="t">
            <a:noAutofit/>
          </a:bodyPr>
          <a:lstStyle/>
          <a:p>
            <a:pPr algn="ctr">
              <a:lnSpc>
                <a:spcPct val="110000"/>
              </a:lnSpc>
            </a:pPr>
            <a:r>
              <a:rPr sz="1600" b="1" i="0">
                <a:solidFill>
                  <a:srgbClr val="1F2933"/>
                </a:solidFill>
                <a:latin typeface="Segoe UI"/>
              </a:rPr>
              <a:t>Thứ tự mở rộng</a:t>
            </a:r>
          </a:p>
        </p:txBody>
      </p:sp>
      <p:sp>
        <p:nvSpPr>
          <p:cNvPr id="26" name="TextBox 25"/>
          <p:cNvSpPr txBox="1"/>
          <p:nvPr/>
        </p:nvSpPr>
        <p:spPr>
          <a:xfrm>
            <a:off x="8394192" y="3767328"/>
            <a:ext cx="2788920" cy="1097280"/>
          </a:xfrm>
          <a:prstGeom prst="rect">
            <a:avLst/>
          </a:prstGeom>
          <a:noFill/>
        </p:spPr>
        <p:txBody>
          <a:bodyPr wrap="square" lIns="0" tIns="0" rIns="0" bIns="0" anchor="t">
            <a:noAutofit/>
          </a:bodyPr>
          <a:lstStyle/>
          <a:p>
            <a:pPr algn="ctr">
              <a:lnSpc>
                <a:spcPct val="115000"/>
              </a:lnSpc>
            </a:pPr>
            <a:r>
              <a:rPr sz="1320" b="0" i="0">
                <a:solidFill>
                  <a:srgbClr val="5B6673"/>
                </a:solidFill>
                <a:latin typeface="Segoe UI"/>
              </a:rPr>
              <a:t>Khi hai vùng cùng tranh một pixel, vùng đến trước sẽ chiếm nó.</a:t>
            </a:r>
          </a:p>
        </p:txBody>
      </p:sp>
      <p:cxnSp>
        <p:nvCxnSpPr>
          <p:cNvPr id="29" name="Connector 28"/>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31" name="TextBox 30"/>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REGION GROWING</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dirty="0" err="1">
                <a:solidFill>
                  <a:srgbClr val="1F2933"/>
                </a:solidFill>
                <a:latin typeface="Cambria"/>
              </a:rPr>
              <a:t>Nở</a:t>
            </a:r>
            <a:r>
              <a:rPr sz="2900" b="1" i="0" dirty="0">
                <a:solidFill>
                  <a:srgbClr val="1F2933"/>
                </a:solidFill>
                <a:latin typeface="Cambria"/>
              </a:rPr>
              <a:t> </a:t>
            </a:r>
            <a:r>
              <a:rPr sz="2900" b="1" i="0" dirty="0" err="1">
                <a:solidFill>
                  <a:srgbClr val="1F2933"/>
                </a:solidFill>
                <a:latin typeface="Cambria"/>
              </a:rPr>
              <a:t>vùng</a:t>
            </a:r>
            <a:r>
              <a:rPr sz="2900" b="1" i="0" dirty="0">
                <a:solidFill>
                  <a:srgbClr val="1F2933"/>
                </a:solidFill>
                <a:latin typeface="Cambria"/>
              </a:rPr>
              <a:t>: </a:t>
            </a:r>
            <a:r>
              <a:rPr lang="en-US" sz="2900" b="1" dirty="0" err="1">
                <a:solidFill>
                  <a:srgbClr val="1F2933"/>
                </a:solidFill>
                <a:latin typeface="Cambria"/>
              </a:rPr>
              <a:t>điểm</a:t>
            </a:r>
            <a:r>
              <a:rPr lang="en-US" sz="2900" b="1" dirty="0">
                <a:solidFill>
                  <a:srgbClr val="1F2933"/>
                </a:solidFill>
                <a:latin typeface="Cambria"/>
              </a:rPr>
              <a:t> </a:t>
            </a:r>
            <a:r>
              <a:rPr lang="en-US" sz="2900" b="1" dirty="0" err="1">
                <a:solidFill>
                  <a:srgbClr val="1F2933"/>
                </a:solidFill>
                <a:latin typeface="Cambria"/>
              </a:rPr>
              <a:t>mạnh</a:t>
            </a:r>
            <a:r>
              <a:rPr lang="en-US" sz="2900" b="1" dirty="0">
                <a:solidFill>
                  <a:srgbClr val="1F2933"/>
                </a:solidFill>
                <a:latin typeface="Cambria"/>
              </a:rPr>
              <a:t>, </a:t>
            </a:r>
            <a:r>
              <a:rPr lang="en-US" sz="2900" b="1" dirty="0" err="1">
                <a:solidFill>
                  <a:srgbClr val="1F2933"/>
                </a:solidFill>
                <a:latin typeface="Cambria"/>
              </a:rPr>
              <a:t>yếu</a:t>
            </a:r>
            <a:endParaRPr sz="2900" b="1" i="0" dirty="0">
              <a:solidFill>
                <a:srgbClr val="1F2933"/>
              </a:solidFill>
              <a:latin typeface="Cambria"/>
            </a:endParaRP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783080"/>
            <a:ext cx="5212080" cy="3474720"/>
          </a:xfrm>
          <a:prstGeom prst="roundRect">
            <a:avLst>
              <a:gd name="adj" fmla="val 6000"/>
            </a:avLst>
          </a:prstGeom>
          <a:solidFill>
            <a:srgbClr val="EDF4F1"/>
          </a:solidFill>
          <a:ln w="12700">
            <a:solidFill>
              <a:srgbClr val="CF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91072" y="1783080"/>
            <a:ext cx="5212080" cy="3474720"/>
          </a:xfrm>
          <a:prstGeom prst="roundRect">
            <a:avLst>
              <a:gd name="adj" fmla="val 6000"/>
            </a:avLst>
          </a:prstGeom>
          <a:solidFill>
            <a:srgbClr val="F9EDE8"/>
          </a:solidFill>
          <a:ln w="12700">
            <a:solidFill>
              <a:srgbClr val="EBCF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 y="2011680"/>
            <a:ext cx="420624" cy="420624"/>
          </a:xfrm>
          <a:prstGeom prst="ellipse">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a:t>
            </a:r>
          </a:p>
        </p:txBody>
      </p:sp>
      <p:sp>
        <p:nvSpPr>
          <p:cNvPr id="8" name="TextBox 7"/>
          <p:cNvSpPr txBox="1"/>
          <p:nvPr/>
        </p:nvSpPr>
        <p:spPr>
          <a:xfrm>
            <a:off x="1508760" y="2029968"/>
            <a:ext cx="2743200" cy="411480"/>
          </a:xfrm>
          <a:prstGeom prst="rect">
            <a:avLst/>
          </a:prstGeom>
          <a:noFill/>
        </p:spPr>
        <p:txBody>
          <a:bodyPr wrap="square" lIns="0" tIns="0" rIns="0" bIns="0" anchor="t">
            <a:noAutofit/>
          </a:bodyPr>
          <a:lstStyle/>
          <a:p>
            <a:pPr algn="l">
              <a:lnSpc>
                <a:spcPct val="110000"/>
              </a:lnSpc>
            </a:pPr>
            <a:r>
              <a:rPr sz="1900" b="1" i="0">
                <a:solidFill>
                  <a:srgbClr val="2F6B60"/>
                </a:solidFill>
                <a:latin typeface="Segoe UI"/>
              </a:rPr>
              <a:t>Ưu điểm</a:t>
            </a:r>
          </a:p>
        </p:txBody>
      </p:sp>
      <p:sp>
        <p:nvSpPr>
          <p:cNvPr id="9" name="TextBox 8"/>
          <p:cNvSpPr txBox="1"/>
          <p:nvPr/>
        </p:nvSpPr>
        <p:spPr>
          <a:xfrm>
            <a:off x="960120" y="2743200"/>
            <a:ext cx="4617720" cy="2651760"/>
          </a:xfrm>
          <a:prstGeom prst="rect">
            <a:avLst/>
          </a:prstGeom>
          <a:noFill/>
        </p:spPr>
        <p:txBody>
          <a:bodyPr wrap="square" lIns="0" tIns="0" rIns="0" bIns="0">
            <a:noAutofit/>
          </a:bodyPr>
          <a:lstStyle/>
          <a:p>
            <a:pPr>
              <a:lnSpc>
                <a:spcPct val="112000"/>
              </a:lnSpc>
              <a:spcAft>
                <a:spcPts val="1300"/>
              </a:spcAft>
            </a:pPr>
            <a:r>
              <a:rPr sz="1500" b="1">
                <a:solidFill>
                  <a:srgbClr val="2E7D6E"/>
                </a:solidFill>
                <a:latin typeface="Segoe UI"/>
              </a:rPr>
              <a:t>•   </a:t>
            </a:r>
            <a:r>
              <a:rPr sz="1500">
                <a:solidFill>
                  <a:srgbClr val="1F2933"/>
                </a:solidFill>
                <a:latin typeface="Segoe UI"/>
              </a:rPr>
              <a:t>Trực quan, dễ hiểu, dễ điều khiển.</a:t>
            </a:r>
          </a:p>
          <a:p>
            <a:pPr>
              <a:lnSpc>
                <a:spcPct val="112000"/>
              </a:lnSpc>
              <a:spcAft>
                <a:spcPts val="1300"/>
              </a:spcAft>
            </a:pPr>
            <a:r>
              <a:rPr sz="1500" b="1">
                <a:solidFill>
                  <a:srgbClr val="2E7D6E"/>
                </a:solidFill>
                <a:latin typeface="Segoe UI"/>
              </a:rPr>
              <a:t>•   </a:t>
            </a:r>
            <a:r>
              <a:rPr sz="1500">
                <a:solidFill>
                  <a:srgbClr val="1F2933"/>
                </a:solidFill>
                <a:latin typeface="Segoe UI"/>
              </a:rPr>
              <a:t>Chọn được vùng mục tiêu bằng cách đặt hạt giống.</a:t>
            </a:r>
          </a:p>
          <a:p>
            <a:pPr>
              <a:lnSpc>
                <a:spcPct val="112000"/>
              </a:lnSpc>
              <a:spcAft>
                <a:spcPts val="1300"/>
              </a:spcAft>
            </a:pPr>
            <a:r>
              <a:rPr sz="1500" b="1">
                <a:solidFill>
                  <a:srgbClr val="2E7D6E"/>
                </a:solidFill>
                <a:latin typeface="Segoe UI"/>
              </a:rPr>
              <a:t>•   </a:t>
            </a:r>
            <a:r>
              <a:rPr sz="1500">
                <a:solidFill>
                  <a:srgbClr val="1F2933"/>
                </a:solidFill>
                <a:latin typeface="Segoe UI"/>
              </a:rPr>
              <a:t>Biên vùng bám theo sự thay đổi màu của ảnh.</a:t>
            </a:r>
          </a:p>
        </p:txBody>
      </p:sp>
      <p:sp>
        <p:nvSpPr>
          <p:cNvPr id="10" name="Oval 9"/>
          <p:cNvSpPr/>
          <p:nvPr/>
        </p:nvSpPr>
        <p:spPr>
          <a:xfrm>
            <a:off x="6565392" y="2011680"/>
            <a:ext cx="420624" cy="42062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a:t>
            </a:r>
          </a:p>
        </p:txBody>
      </p:sp>
      <p:sp>
        <p:nvSpPr>
          <p:cNvPr id="11" name="TextBox 10"/>
          <p:cNvSpPr txBox="1"/>
          <p:nvPr/>
        </p:nvSpPr>
        <p:spPr>
          <a:xfrm>
            <a:off x="7114032" y="2029968"/>
            <a:ext cx="2743200" cy="411480"/>
          </a:xfrm>
          <a:prstGeom prst="rect">
            <a:avLst/>
          </a:prstGeom>
          <a:noFill/>
        </p:spPr>
        <p:txBody>
          <a:bodyPr wrap="square" lIns="0" tIns="0" rIns="0" bIns="0" anchor="t">
            <a:noAutofit/>
          </a:bodyPr>
          <a:lstStyle/>
          <a:p>
            <a:pPr algn="l">
              <a:lnSpc>
                <a:spcPct val="110000"/>
              </a:lnSpc>
            </a:pPr>
            <a:r>
              <a:rPr sz="1900" b="1" i="0">
                <a:solidFill>
                  <a:srgbClr val="A9543A"/>
                </a:solidFill>
                <a:latin typeface="Segoe UI"/>
              </a:rPr>
              <a:t>Hạn chế</a:t>
            </a:r>
          </a:p>
        </p:txBody>
      </p:sp>
      <p:sp>
        <p:nvSpPr>
          <p:cNvPr id="12" name="TextBox 11"/>
          <p:cNvSpPr txBox="1"/>
          <p:nvPr/>
        </p:nvSpPr>
        <p:spPr>
          <a:xfrm>
            <a:off x="6565392" y="2743200"/>
            <a:ext cx="4617720" cy="2651760"/>
          </a:xfrm>
          <a:prstGeom prst="rect">
            <a:avLst/>
          </a:prstGeom>
          <a:noFill/>
        </p:spPr>
        <p:txBody>
          <a:bodyPr wrap="square" lIns="0" tIns="0" rIns="0" bIns="0">
            <a:noAutofit/>
          </a:bodyPr>
          <a:lstStyle/>
          <a:p>
            <a:pPr>
              <a:lnSpc>
                <a:spcPct val="112000"/>
              </a:lnSpc>
              <a:spcAft>
                <a:spcPts val="1300"/>
              </a:spcAft>
            </a:pPr>
            <a:r>
              <a:rPr sz="1500" b="1">
                <a:solidFill>
                  <a:srgbClr val="C75B39"/>
                </a:solidFill>
                <a:latin typeface="Segoe UI"/>
              </a:rPr>
              <a:t>•   </a:t>
            </a:r>
            <a:r>
              <a:rPr sz="1500">
                <a:solidFill>
                  <a:srgbClr val="1F2933"/>
                </a:solidFill>
                <a:latin typeface="Segoe UI"/>
              </a:rPr>
              <a:t>Kết quả phụ thuộc mạnh vào hạt giống và ngưỡng.</a:t>
            </a:r>
          </a:p>
          <a:p>
            <a:pPr>
              <a:lnSpc>
                <a:spcPct val="112000"/>
              </a:lnSpc>
              <a:spcAft>
                <a:spcPts val="1300"/>
              </a:spcAft>
            </a:pPr>
            <a:r>
              <a:rPr sz="1500" b="1">
                <a:solidFill>
                  <a:srgbClr val="C75B39"/>
                </a:solidFill>
                <a:latin typeface="Segoe UI"/>
              </a:rPr>
              <a:t>•   </a:t>
            </a:r>
            <a:r>
              <a:rPr sz="1500">
                <a:solidFill>
                  <a:srgbClr val="1F2933"/>
                </a:solidFill>
                <a:latin typeface="Segoe UI"/>
              </a:rPr>
              <a:t>Dễ “rò rỉ” qua biên mờ hoặc vùng chuyển màu từ từ.</a:t>
            </a:r>
          </a:p>
          <a:p>
            <a:pPr>
              <a:lnSpc>
                <a:spcPct val="112000"/>
              </a:lnSpc>
              <a:spcAft>
                <a:spcPts val="1300"/>
              </a:spcAft>
            </a:pPr>
            <a:r>
              <a:rPr sz="1500" b="1">
                <a:solidFill>
                  <a:srgbClr val="C75B39"/>
                </a:solidFill>
                <a:latin typeface="Segoe UI"/>
              </a:rPr>
              <a:t>•   </a:t>
            </a:r>
            <a:r>
              <a:rPr sz="1500">
                <a:solidFill>
                  <a:srgbClr val="1F2933"/>
                </a:solidFill>
                <a:latin typeface="Segoe UI"/>
              </a:rPr>
              <a:t>Các pixel không được nở sẽ không thuộc vùng nào.</a:t>
            </a:r>
          </a:p>
        </p:txBody>
      </p:sp>
      <p:sp>
        <p:nvSpPr>
          <p:cNvPr id="13" name="TextBox 12"/>
          <p:cNvSpPr txBox="1"/>
          <p:nvPr/>
        </p:nvSpPr>
        <p:spPr>
          <a:xfrm>
            <a:off x="685800" y="5623560"/>
            <a:ext cx="10817352" cy="365760"/>
          </a:xfrm>
          <a:prstGeom prst="rect">
            <a:avLst/>
          </a:prstGeom>
          <a:noFill/>
        </p:spPr>
        <p:txBody>
          <a:bodyPr wrap="square" lIns="0" tIns="0" rIns="0" bIns="0" anchor="t">
            <a:noAutofit/>
          </a:bodyPr>
          <a:lstStyle/>
          <a:p>
            <a:pPr algn="ctr">
              <a:lnSpc>
                <a:spcPct val="110000"/>
              </a:lnSpc>
            </a:pPr>
            <a:r>
              <a:rPr sz="1400" b="0" i="1">
                <a:solidFill>
                  <a:srgbClr val="5B6673"/>
                </a:solidFill>
                <a:latin typeface="Segoe UI"/>
              </a:rPr>
              <a:t>Chọn hạt giống và ngưỡng phù hợp là chìa khóa khi dùng nở vùng.</a:t>
            </a:r>
          </a:p>
        </p:txBody>
      </p:sp>
      <p:cxnSp>
        <p:nvCxnSpPr>
          <p:cNvPr id="14" name="Connector 13"/>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16" name="TextBox 15"/>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SPLIT AND MERGE</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Gộp vùng: chia nhỏ rồi ghép lại</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783080"/>
            <a:ext cx="4846320" cy="1371600"/>
          </a:xfrm>
          <a:prstGeom prst="rect">
            <a:avLst/>
          </a:prstGeom>
          <a:noFill/>
        </p:spPr>
        <p:txBody>
          <a:bodyPr wrap="square" lIns="0" tIns="0" rIns="0" bIns="0" anchor="t">
            <a:noAutofit/>
          </a:bodyPr>
          <a:lstStyle/>
          <a:p>
            <a:pPr algn="l">
              <a:lnSpc>
                <a:spcPct val="120000"/>
              </a:lnSpc>
            </a:pPr>
            <a:r>
              <a:rPr sz="1750" b="0" i="0">
                <a:solidFill>
                  <a:srgbClr val="1F2933"/>
                </a:solidFill>
                <a:latin typeface="Segoe UI"/>
              </a:rPr>
              <a:t>Nếu nở vùng giống như “gieo hạt”, gộp vùng giống như xé một bức ảnh thành nhiều mảnh nhỏ rồi dán những mảnh giống nhau lại thành vùng lớn.</a:t>
            </a:r>
          </a:p>
        </p:txBody>
      </p:sp>
      <p:sp>
        <p:nvSpPr>
          <p:cNvPr id="6" name="TextBox 5"/>
          <p:cNvSpPr txBox="1"/>
          <p:nvPr/>
        </p:nvSpPr>
        <p:spPr>
          <a:xfrm>
            <a:off x="685800" y="3291840"/>
            <a:ext cx="4800600" cy="2194560"/>
          </a:xfrm>
          <a:prstGeom prst="rect">
            <a:avLst/>
          </a:prstGeom>
          <a:noFill/>
        </p:spPr>
        <p:txBody>
          <a:bodyPr wrap="square" lIns="0" tIns="0" rIns="0" bIns="0">
            <a:noAutofit/>
          </a:bodyPr>
          <a:lstStyle/>
          <a:p>
            <a:pPr>
              <a:lnSpc>
                <a:spcPct val="112000"/>
              </a:lnSpc>
              <a:spcAft>
                <a:spcPts val="1100"/>
              </a:spcAft>
            </a:pPr>
            <a:r>
              <a:rPr sz="1450" b="1">
                <a:solidFill>
                  <a:srgbClr val="2E7D6E"/>
                </a:solidFill>
                <a:latin typeface="Segoe UI"/>
              </a:rPr>
              <a:t>•   </a:t>
            </a:r>
            <a:r>
              <a:rPr sz="1450" b="1">
                <a:solidFill>
                  <a:srgbClr val="1F2933"/>
                </a:solidFill>
                <a:latin typeface="Segoe UI"/>
              </a:rPr>
              <a:t>Tách (Split)</a:t>
            </a:r>
            <a:r>
              <a:rPr sz="1450">
                <a:solidFill>
                  <a:srgbClr val="5B6673"/>
                </a:solidFill>
                <a:latin typeface="Segoe UI"/>
              </a:rPr>
              <a:t>  chia ảnh thành các khối nhỏ cho đến khi mỗi khối khá đồng nhất.</a:t>
            </a:r>
          </a:p>
          <a:p>
            <a:pPr>
              <a:lnSpc>
                <a:spcPct val="112000"/>
              </a:lnSpc>
              <a:spcAft>
                <a:spcPts val="1100"/>
              </a:spcAft>
            </a:pPr>
            <a:r>
              <a:rPr sz="1450" b="1">
                <a:solidFill>
                  <a:srgbClr val="2E7D6E"/>
                </a:solidFill>
                <a:latin typeface="Segoe UI"/>
              </a:rPr>
              <a:t>•   </a:t>
            </a:r>
            <a:r>
              <a:rPr sz="1450" b="1">
                <a:solidFill>
                  <a:srgbClr val="1F2933"/>
                </a:solidFill>
                <a:latin typeface="Segoe UI"/>
              </a:rPr>
              <a:t>Gộp (Merge)</a:t>
            </a:r>
            <a:r>
              <a:rPr sz="1450">
                <a:solidFill>
                  <a:srgbClr val="5B6673"/>
                </a:solidFill>
                <a:latin typeface="Segoe UI"/>
              </a:rPr>
              <a:t>  ghép các khối kề nhau nếu chúng đủ giống nhau.</a:t>
            </a:r>
          </a:p>
          <a:p>
            <a:pPr>
              <a:lnSpc>
                <a:spcPct val="112000"/>
              </a:lnSpc>
              <a:spcAft>
                <a:spcPts val="1100"/>
              </a:spcAft>
            </a:pPr>
            <a:r>
              <a:rPr sz="1450" b="1">
                <a:solidFill>
                  <a:srgbClr val="2E7D6E"/>
                </a:solidFill>
                <a:latin typeface="Segoe UI"/>
              </a:rPr>
              <a:t>•   </a:t>
            </a:r>
            <a:r>
              <a:rPr sz="1450" b="1">
                <a:solidFill>
                  <a:srgbClr val="1F2933"/>
                </a:solidFill>
                <a:latin typeface="Segoe UI"/>
              </a:rPr>
              <a:t>Kết quả</a:t>
            </a:r>
            <a:r>
              <a:rPr sz="1450">
                <a:solidFill>
                  <a:srgbClr val="5B6673"/>
                </a:solidFill>
                <a:latin typeface="Segoe UI"/>
              </a:rPr>
              <a:t>  các vùng lớn, đồng nhất, phủ kín toàn ảnh.</a:t>
            </a:r>
          </a:p>
        </p:txBody>
      </p:sp>
      <p:sp>
        <p:nvSpPr>
          <p:cNvPr id="7" name="Rounded Rectangle 6"/>
          <p:cNvSpPr/>
          <p:nvPr/>
        </p:nvSpPr>
        <p:spPr>
          <a:xfrm>
            <a:off x="5806440" y="1874519"/>
            <a:ext cx="1600200" cy="2331720"/>
          </a:xfrm>
          <a:prstGeom prst="roundRect">
            <a:avLst>
              <a:gd name="adj" fmla="val 6000"/>
            </a:avLst>
          </a:prstGeom>
          <a:solidFill>
            <a:srgbClr val="F4EFE6"/>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966459" y="2107691"/>
            <a:ext cx="576072" cy="792784"/>
          </a:xfrm>
          <a:prstGeom prst="ellipse">
            <a:avLst/>
          </a:prstGeom>
          <a:solidFill>
            <a:srgbClr val="C0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686550" y="2154326"/>
            <a:ext cx="544068" cy="699515"/>
          </a:xfrm>
          <a:prstGeom prst="rect">
            <a:avLst/>
          </a:prstGeom>
          <a:solidFill>
            <a:srgbClr val="4E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Isosceles Triangle 9"/>
          <p:cNvSpPr/>
          <p:nvPr/>
        </p:nvSpPr>
        <p:spPr>
          <a:xfrm>
            <a:off x="6286500" y="3040379"/>
            <a:ext cx="512064" cy="699515"/>
          </a:xfrm>
          <a:prstGeom prst="triangle">
            <a:avLst/>
          </a:prstGeom>
          <a:solidFill>
            <a:srgbClr val="5E9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654546" y="3087014"/>
            <a:ext cx="576072" cy="839419"/>
          </a:xfrm>
          <a:prstGeom prst="ellipse">
            <a:avLst/>
          </a:prstGeom>
          <a:solidFill>
            <a:srgbClr val="D0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34455" y="3273551"/>
            <a:ext cx="576072" cy="769467"/>
          </a:xfrm>
          <a:prstGeom prst="rect">
            <a:avLst/>
          </a:prstGeom>
          <a:solidFill>
            <a:srgbClr val="7E6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772400" y="1874519"/>
            <a:ext cx="1600200" cy="2331720"/>
          </a:xfrm>
          <a:prstGeom prst="roundRect">
            <a:avLst>
              <a:gd name="adj" fmla="val 6000"/>
            </a:avLst>
          </a:prstGeom>
          <a:solidFill>
            <a:srgbClr val="F4EFE6"/>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863840" y="2331720"/>
            <a:ext cx="457200" cy="457200"/>
          </a:xfrm>
          <a:prstGeom prst="rect">
            <a:avLst/>
          </a:prstGeom>
          <a:solidFill>
            <a:srgbClr val="D6E8E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39327" y="2331720"/>
            <a:ext cx="457200" cy="457200"/>
          </a:xfrm>
          <a:prstGeom prst="rect">
            <a:avLst/>
          </a:prstGeom>
          <a:solidFill>
            <a:srgbClr val="F0E3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814816" y="2331720"/>
            <a:ext cx="457200" cy="457200"/>
          </a:xfrm>
          <a:prstGeom prst="rect">
            <a:avLst/>
          </a:prstGeom>
          <a:solidFill>
            <a:srgbClr val="D7E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863840" y="2807208"/>
            <a:ext cx="457200" cy="457200"/>
          </a:xfrm>
          <a:prstGeom prst="rect">
            <a:avLst/>
          </a:prstGeom>
          <a:solidFill>
            <a:srgbClr val="EFD6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39327" y="2807208"/>
            <a:ext cx="457200" cy="457200"/>
          </a:xfrm>
          <a:prstGeom prst="rect">
            <a:avLst/>
          </a:prstGeom>
          <a:solidFill>
            <a:srgbClr val="ECE7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14816" y="2807208"/>
            <a:ext cx="457200" cy="457200"/>
          </a:xfrm>
          <a:prstGeom prst="rect">
            <a:avLst/>
          </a:prstGeom>
          <a:solidFill>
            <a:srgbClr val="E8F0E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863840" y="3282696"/>
            <a:ext cx="457200" cy="457200"/>
          </a:xfrm>
          <a:prstGeom prst="rect">
            <a:avLst/>
          </a:prstGeom>
          <a:solidFill>
            <a:srgbClr val="F3E9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339327" y="3282696"/>
            <a:ext cx="457200" cy="457200"/>
          </a:xfrm>
          <a:prstGeom prst="rect">
            <a:avLst/>
          </a:prstGeom>
          <a:solidFill>
            <a:srgbClr val="D6E8E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814816" y="3282696"/>
            <a:ext cx="457200" cy="457200"/>
          </a:xfrm>
          <a:prstGeom prst="rect">
            <a:avLst/>
          </a:prstGeom>
          <a:solidFill>
            <a:srgbClr val="F0E3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738360" y="1874519"/>
            <a:ext cx="1600200" cy="2331720"/>
          </a:xfrm>
          <a:prstGeom prst="roundRect">
            <a:avLst>
              <a:gd name="adj" fmla="val 6000"/>
            </a:avLst>
          </a:prstGeom>
          <a:solidFill>
            <a:srgbClr val="F4EFE6"/>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29800" y="2331720"/>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305288" y="2331720"/>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780776" y="2331720"/>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829800" y="2807208"/>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305288" y="2807208"/>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780776" y="2807208"/>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829800" y="3282696"/>
            <a:ext cx="457200" cy="457200"/>
          </a:xfrm>
          <a:prstGeom prst="rect">
            <a:avLst/>
          </a:prstGeom>
          <a:solidFill>
            <a:srgbClr val="F0E3C6"/>
          </a:solidFill>
          <a:ln w="10160">
            <a:solidFill>
              <a:srgbClr val="F0E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305288" y="3282696"/>
            <a:ext cx="457200" cy="457200"/>
          </a:xfrm>
          <a:prstGeom prst="rect">
            <a:avLst/>
          </a:prstGeom>
          <a:solidFill>
            <a:srgbClr val="F0E3C6"/>
          </a:solidFill>
          <a:ln w="10160">
            <a:solidFill>
              <a:srgbClr val="F0E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780776" y="3282696"/>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10780776" y="2331720"/>
            <a:ext cx="0" cy="475488"/>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29800" y="3282696"/>
            <a:ext cx="475488"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780776" y="2807208"/>
            <a:ext cx="0" cy="475488"/>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05288" y="3282696"/>
            <a:ext cx="475488"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0776" y="3282696"/>
            <a:ext cx="0" cy="475487"/>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9829800" y="2331720"/>
            <a:ext cx="1426464" cy="1426464"/>
          </a:xfrm>
          <a:prstGeom prst="rect">
            <a:avLst/>
          </a:prstGeom>
          <a:no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ight Arrow 38"/>
          <p:cNvSpPr/>
          <p:nvPr/>
        </p:nvSpPr>
        <p:spPr>
          <a:xfrm>
            <a:off x="7443216" y="2834639"/>
            <a:ext cx="256032" cy="347472"/>
          </a:xfrm>
          <a:prstGeom prst="right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ight Arrow 39"/>
          <p:cNvSpPr/>
          <p:nvPr/>
        </p:nvSpPr>
        <p:spPr>
          <a:xfrm>
            <a:off x="9409176" y="2834639"/>
            <a:ext cx="256032" cy="347472"/>
          </a:xfrm>
          <a:prstGeom prst="right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06440" y="4343400"/>
            <a:ext cx="1600200" cy="274320"/>
          </a:xfrm>
          <a:prstGeom prst="rect">
            <a:avLst/>
          </a:prstGeom>
          <a:noFill/>
        </p:spPr>
        <p:txBody>
          <a:bodyPr wrap="square" lIns="0" tIns="0" rIns="0" bIns="0" anchor="t">
            <a:noAutofit/>
          </a:bodyPr>
          <a:lstStyle/>
          <a:p>
            <a:pPr algn="ctr">
              <a:lnSpc>
                <a:spcPct val="110000"/>
              </a:lnSpc>
            </a:pPr>
            <a:r>
              <a:rPr sz="1150" b="0" i="0">
                <a:solidFill>
                  <a:srgbClr val="5B6673"/>
                </a:solidFill>
                <a:latin typeface="Segoe UI"/>
              </a:rPr>
              <a:t>Ảnh ban đầu</a:t>
            </a:r>
          </a:p>
        </p:txBody>
      </p:sp>
      <p:sp>
        <p:nvSpPr>
          <p:cNvPr id="42" name="TextBox 41"/>
          <p:cNvSpPr txBox="1"/>
          <p:nvPr/>
        </p:nvSpPr>
        <p:spPr>
          <a:xfrm>
            <a:off x="7772400" y="4343400"/>
            <a:ext cx="1600200" cy="274320"/>
          </a:xfrm>
          <a:prstGeom prst="rect">
            <a:avLst/>
          </a:prstGeom>
          <a:noFill/>
        </p:spPr>
        <p:txBody>
          <a:bodyPr wrap="square" lIns="0" tIns="0" rIns="0" bIns="0" anchor="t">
            <a:noAutofit/>
          </a:bodyPr>
          <a:lstStyle/>
          <a:p>
            <a:pPr algn="ctr">
              <a:lnSpc>
                <a:spcPct val="110000"/>
              </a:lnSpc>
            </a:pPr>
            <a:r>
              <a:rPr sz="1150" b="0" i="0">
                <a:solidFill>
                  <a:srgbClr val="5B6673"/>
                </a:solidFill>
                <a:latin typeface="Segoe UI"/>
              </a:rPr>
              <a:t>Tách thành khối</a:t>
            </a:r>
          </a:p>
        </p:txBody>
      </p:sp>
      <p:sp>
        <p:nvSpPr>
          <p:cNvPr id="43" name="TextBox 42"/>
          <p:cNvSpPr txBox="1"/>
          <p:nvPr/>
        </p:nvSpPr>
        <p:spPr>
          <a:xfrm>
            <a:off x="9738360" y="4343400"/>
            <a:ext cx="1600200" cy="274320"/>
          </a:xfrm>
          <a:prstGeom prst="rect">
            <a:avLst/>
          </a:prstGeom>
          <a:noFill/>
        </p:spPr>
        <p:txBody>
          <a:bodyPr wrap="square" lIns="0" tIns="0" rIns="0" bIns="0" anchor="t">
            <a:noAutofit/>
          </a:bodyPr>
          <a:lstStyle/>
          <a:p>
            <a:pPr algn="ctr">
              <a:lnSpc>
                <a:spcPct val="110000"/>
              </a:lnSpc>
            </a:pPr>
            <a:r>
              <a:rPr sz="1150" b="0" i="0">
                <a:solidFill>
                  <a:srgbClr val="5B6673"/>
                </a:solidFill>
                <a:latin typeface="Segoe UI"/>
              </a:rPr>
              <a:t>Gộp thành vùng</a:t>
            </a:r>
          </a:p>
        </p:txBody>
      </p:sp>
      <p:sp>
        <p:nvSpPr>
          <p:cNvPr id="44" name="TextBox 43"/>
          <p:cNvSpPr txBox="1"/>
          <p:nvPr/>
        </p:nvSpPr>
        <p:spPr>
          <a:xfrm>
            <a:off x="685800" y="5623560"/>
            <a:ext cx="10817352" cy="411480"/>
          </a:xfrm>
          <a:prstGeom prst="rect">
            <a:avLst/>
          </a:prstGeom>
          <a:noFill/>
        </p:spPr>
        <p:txBody>
          <a:bodyPr wrap="square" lIns="0" tIns="0" rIns="0" bIns="0" anchor="t">
            <a:noAutofit/>
          </a:bodyPr>
          <a:lstStyle/>
          <a:p>
            <a:pPr algn="ctr">
              <a:lnSpc>
                <a:spcPct val="110000"/>
              </a:lnSpc>
            </a:pPr>
            <a:r>
              <a:rPr sz="1400" b="0" i="1">
                <a:solidFill>
                  <a:srgbClr val="5B6673"/>
                </a:solidFill>
                <a:latin typeface="Segoe UI"/>
              </a:rPr>
              <a:t>Hai bước nối tiếp nhau: chia để tìm các phần đồng nhất, gộp để hoàn thiện vùng.</a:t>
            </a:r>
          </a:p>
        </p:txBody>
      </p:sp>
      <p:cxnSp>
        <p:nvCxnSpPr>
          <p:cNvPr id="45" name="Connector 44"/>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47" name="TextBox 46"/>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SPLIT AND MERGE · BƯỚC 1</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dirty="0" err="1">
                <a:solidFill>
                  <a:srgbClr val="1F2933"/>
                </a:solidFill>
                <a:latin typeface="Cambria"/>
              </a:rPr>
              <a:t>Tách</a:t>
            </a:r>
            <a:r>
              <a:rPr sz="2900" b="1" i="0" dirty="0">
                <a:solidFill>
                  <a:srgbClr val="1F2933"/>
                </a:solidFill>
                <a:latin typeface="Cambria"/>
              </a:rPr>
              <a:t>: chia </a:t>
            </a:r>
            <a:r>
              <a:rPr sz="2900" b="1" i="0" dirty="0" err="1">
                <a:solidFill>
                  <a:srgbClr val="1F2933"/>
                </a:solidFill>
                <a:latin typeface="Cambria"/>
              </a:rPr>
              <a:t>đến</a:t>
            </a:r>
            <a:r>
              <a:rPr sz="2900" b="1" i="0" dirty="0">
                <a:solidFill>
                  <a:srgbClr val="1F2933"/>
                </a:solidFill>
                <a:latin typeface="Cambria"/>
              </a:rPr>
              <a:t> </a:t>
            </a:r>
            <a:r>
              <a:rPr sz="2900" b="1" i="0" dirty="0" err="1">
                <a:solidFill>
                  <a:srgbClr val="1F2933"/>
                </a:solidFill>
                <a:latin typeface="Cambria"/>
              </a:rPr>
              <a:t>khi</a:t>
            </a:r>
            <a:r>
              <a:rPr sz="2900" b="1" i="0" dirty="0">
                <a:solidFill>
                  <a:srgbClr val="1F2933"/>
                </a:solidFill>
                <a:latin typeface="Cambria"/>
              </a:rPr>
              <a:t> </a:t>
            </a:r>
            <a:r>
              <a:rPr sz="2900" b="1" i="0" dirty="0" err="1">
                <a:solidFill>
                  <a:srgbClr val="1F2933"/>
                </a:solidFill>
                <a:latin typeface="Cambria"/>
              </a:rPr>
              <a:t>đồng</a:t>
            </a:r>
            <a:r>
              <a:rPr sz="2900" b="1" i="0" dirty="0">
                <a:solidFill>
                  <a:srgbClr val="1F2933"/>
                </a:solidFill>
                <a:latin typeface="Cambria"/>
              </a:rPr>
              <a:t> </a:t>
            </a:r>
            <a:r>
              <a:rPr sz="2900" b="1" i="0" dirty="0" err="1">
                <a:solidFill>
                  <a:srgbClr val="1F2933"/>
                </a:solidFill>
                <a:latin typeface="Cambria"/>
              </a:rPr>
              <a:t>nhất</a:t>
            </a:r>
            <a:endParaRPr sz="2900" b="1" i="0" dirty="0">
              <a:solidFill>
                <a:srgbClr val="1F2933"/>
              </a:solidFill>
              <a:latin typeface="Cambria"/>
            </a:endParaRP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783080"/>
            <a:ext cx="5120640" cy="3291840"/>
          </a:xfrm>
          <a:prstGeom prst="rect">
            <a:avLst/>
          </a:prstGeom>
          <a:noFill/>
        </p:spPr>
        <p:txBody>
          <a:bodyPr wrap="square" lIns="0" tIns="0" rIns="0" bIns="0">
            <a:noAutofit/>
          </a:bodyPr>
          <a:lstStyle/>
          <a:p>
            <a:pPr>
              <a:lnSpc>
                <a:spcPct val="112000"/>
              </a:lnSpc>
              <a:spcAft>
                <a:spcPts val="1200"/>
              </a:spcAft>
            </a:pPr>
            <a:r>
              <a:rPr sz="1500" b="1">
                <a:solidFill>
                  <a:srgbClr val="2E7D6E"/>
                </a:solidFill>
                <a:latin typeface="Segoe UI"/>
              </a:rPr>
              <a:t>•   </a:t>
            </a:r>
            <a:r>
              <a:rPr sz="1500" b="1">
                <a:solidFill>
                  <a:srgbClr val="1F2933"/>
                </a:solidFill>
                <a:latin typeface="Segoe UI"/>
              </a:rPr>
              <a:t>Bắt đầu</a:t>
            </a:r>
            <a:r>
              <a:rPr sz="1500">
                <a:solidFill>
                  <a:srgbClr val="5B6673"/>
                </a:solidFill>
                <a:latin typeface="Segoe UI"/>
              </a:rPr>
              <a:t>  với toàn bộ ảnh là một khối duy nhất.</a:t>
            </a:r>
          </a:p>
          <a:p>
            <a:pPr>
              <a:lnSpc>
                <a:spcPct val="112000"/>
              </a:lnSpc>
              <a:spcAft>
                <a:spcPts val="1200"/>
              </a:spcAft>
            </a:pPr>
            <a:r>
              <a:rPr sz="1500" b="1">
                <a:solidFill>
                  <a:srgbClr val="2E7D6E"/>
                </a:solidFill>
                <a:latin typeface="Segoe UI"/>
              </a:rPr>
              <a:t>•   </a:t>
            </a:r>
            <a:r>
              <a:rPr sz="1500" b="1">
                <a:solidFill>
                  <a:srgbClr val="1F2933"/>
                </a:solidFill>
                <a:latin typeface="Segoe UI"/>
              </a:rPr>
              <a:t>Chưa đồng nhất</a:t>
            </a:r>
            <a:r>
              <a:rPr sz="1500">
                <a:solidFill>
                  <a:srgbClr val="5B6673"/>
                </a:solidFill>
                <a:latin typeface="Segoe UI"/>
              </a:rPr>
              <a:t>  chia khối đó thành 4 khối bằng nhau.</a:t>
            </a:r>
          </a:p>
          <a:p>
            <a:pPr>
              <a:lnSpc>
                <a:spcPct val="112000"/>
              </a:lnSpc>
              <a:spcAft>
                <a:spcPts val="1200"/>
              </a:spcAft>
            </a:pPr>
            <a:r>
              <a:rPr sz="1500" b="1">
                <a:solidFill>
                  <a:srgbClr val="2E7D6E"/>
                </a:solidFill>
                <a:latin typeface="Segoe UI"/>
              </a:rPr>
              <a:t>•   </a:t>
            </a:r>
            <a:r>
              <a:rPr sz="1500" b="1">
                <a:solidFill>
                  <a:srgbClr val="1F2933"/>
                </a:solidFill>
                <a:latin typeface="Segoe UI"/>
              </a:rPr>
              <a:t>Lặp lại</a:t>
            </a:r>
            <a:r>
              <a:rPr sz="1500">
                <a:solidFill>
                  <a:srgbClr val="5B6673"/>
                </a:solidFill>
                <a:latin typeface="Segoe UI"/>
              </a:rPr>
              <a:t>  với từng khối con cho đến khi đạt độ đồng nhất hoặc kích thước tối thiểu.</a:t>
            </a:r>
          </a:p>
          <a:p>
            <a:pPr>
              <a:lnSpc>
                <a:spcPct val="112000"/>
              </a:lnSpc>
              <a:spcAft>
                <a:spcPts val="1200"/>
              </a:spcAft>
            </a:pPr>
            <a:r>
              <a:rPr sz="1500" b="1">
                <a:solidFill>
                  <a:srgbClr val="2E7D6E"/>
                </a:solidFill>
                <a:latin typeface="Segoe UI"/>
              </a:rPr>
              <a:t>•   </a:t>
            </a:r>
            <a:r>
              <a:rPr sz="1500" b="1">
                <a:solidFill>
                  <a:srgbClr val="1F2933"/>
                </a:solidFill>
                <a:latin typeface="Segoe UI"/>
              </a:rPr>
              <a:t>Kết quả</a:t>
            </a:r>
            <a:r>
              <a:rPr sz="1500">
                <a:solidFill>
                  <a:srgbClr val="5B6673"/>
                </a:solidFill>
                <a:latin typeface="Segoe UI"/>
              </a:rPr>
              <a:t>  các khối vuông nhỏ, mỗi khối khá thuần nhất về màu.</a:t>
            </a:r>
          </a:p>
        </p:txBody>
      </p:sp>
      <p:sp>
        <p:nvSpPr>
          <p:cNvPr id="6" name="TextBox 5"/>
          <p:cNvSpPr txBox="1"/>
          <p:nvPr/>
        </p:nvSpPr>
        <p:spPr>
          <a:xfrm>
            <a:off x="685800" y="5257800"/>
            <a:ext cx="4937760" cy="731520"/>
          </a:xfrm>
          <a:prstGeom prst="rect">
            <a:avLst/>
          </a:prstGeom>
          <a:noFill/>
        </p:spPr>
        <p:txBody>
          <a:bodyPr wrap="square" lIns="0" tIns="0" rIns="0" bIns="0" anchor="t">
            <a:noAutofit/>
          </a:bodyPr>
          <a:lstStyle/>
          <a:p>
            <a:pPr algn="l">
              <a:lnSpc>
                <a:spcPct val="115000"/>
              </a:lnSpc>
            </a:pPr>
            <a:r>
              <a:rPr sz="1350" b="0" i="1">
                <a:solidFill>
                  <a:srgbClr val="5B6673"/>
                </a:solidFill>
                <a:latin typeface="Segoe UI"/>
              </a:rPr>
              <a:t>Tiêu chí “đồng nhất” thường dựa trên độ lệch màu hoặc phương sai bên trong khối.</a:t>
            </a:r>
          </a:p>
        </p:txBody>
      </p:sp>
      <p:sp>
        <p:nvSpPr>
          <p:cNvPr id="7" name="Rectangle 6"/>
          <p:cNvSpPr/>
          <p:nvPr/>
        </p:nvSpPr>
        <p:spPr>
          <a:xfrm>
            <a:off x="7040880" y="1783080"/>
            <a:ext cx="1783080" cy="1783080"/>
          </a:xfrm>
          <a:prstGeom prst="rect">
            <a:avLst/>
          </a:prstGeom>
          <a:solidFill>
            <a:srgbClr val="D6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040880" y="3566160"/>
            <a:ext cx="1783080" cy="1783080"/>
          </a:xfrm>
          <a:prstGeom prst="rect">
            <a:avLst/>
          </a:prstGeom>
          <a:solidFill>
            <a:srgbClr val="F2D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23960" y="3566160"/>
            <a:ext cx="1783080" cy="1783080"/>
          </a:xfrm>
          <a:prstGeom prst="rect">
            <a:avLst/>
          </a:prstGeom>
          <a:solidFill>
            <a:srgbClr val="EC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823960" y="1783080"/>
            <a:ext cx="891540" cy="891540"/>
          </a:xfrm>
          <a:prstGeom prst="rect">
            <a:avLst/>
          </a:prstGeom>
          <a:solidFill>
            <a:srgbClr val="F0E3C6"/>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040880" y="3566160"/>
            <a:ext cx="891540" cy="891540"/>
          </a:xfrm>
          <a:prstGeom prst="rect">
            <a:avLst/>
          </a:prstGeom>
          <a:solidFill>
            <a:srgbClr val="EFD6C9"/>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715500" y="1783080"/>
            <a:ext cx="891540" cy="891540"/>
          </a:xfrm>
          <a:prstGeom prst="rect">
            <a:avLst/>
          </a:prstGeom>
          <a:solidFill>
            <a:srgbClr val="F6ECDA"/>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32420" y="3566160"/>
            <a:ext cx="891540" cy="891540"/>
          </a:xfrm>
          <a:prstGeom prst="rect">
            <a:avLst/>
          </a:prstGeom>
          <a:solidFill>
            <a:srgbClr val="F7E8E0"/>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23960" y="2674620"/>
            <a:ext cx="891540" cy="891540"/>
          </a:xfrm>
          <a:prstGeom prst="rect">
            <a:avLst/>
          </a:prstGeom>
          <a:solidFill>
            <a:srgbClr val="F6ECDA"/>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040880" y="4457700"/>
            <a:ext cx="891540" cy="891540"/>
          </a:xfrm>
          <a:prstGeom prst="rect">
            <a:avLst/>
          </a:prstGeom>
          <a:solidFill>
            <a:srgbClr val="F7E8E0"/>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715500" y="2674620"/>
            <a:ext cx="891540" cy="891540"/>
          </a:xfrm>
          <a:prstGeom prst="rect">
            <a:avLst/>
          </a:prstGeom>
          <a:solidFill>
            <a:srgbClr val="F0E3C6"/>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932420" y="4457700"/>
            <a:ext cx="891540" cy="891540"/>
          </a:xfrm>
          <a:prstGeom prst="rect">
            <a:avLst/>
          </a:prstGeom>
          <a:solidFill>
            <a:srgbClr val="EFD6C9"/>
          </a:solidFill>
          <a:ln w="12700">
            <a:solidFill>
              <a:srgbClr val="F4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040880" y="1783080"/>
            <a:ext cx="3566160" cy="3566160"/>
          </a:xfrm>
          <a:prstGeom prst="rect">
            <a:avLst/>
          </a:prstGeom>
          <a:noFill/>
          <a:ln w="317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823960" y="1783080"/>
            <a:ext cx="0" cy="356616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040880" y="3566160"/>
            <a:ext cx="356616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040880" y="5623560"/>
            <a:ext cx="201168" cy="201168"/>
          </a:xfrm>
          <a:prstGeom prst="rect">
            <a:avLst/>
          </a:prstGeom>
          <a:solidFill>
            <a:srgbClr val="D6E8E3"/>
          </a:solidFill>
          <a:ln w="1524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33488" y="5596128"/>
            <a:ext cx="2011680" cy="274320"/>
          </a:xfrm>
          <a:prstGeom prst="rect">
            <a:avLst/>
          </a:prstGeom>
          <a:noFill/>
        </p:spPr>
        <p:txBody>
          <a:bodyPr wrap="square" lIns="0" tIns="0" rIns="0" bIns="0" anchor="t">
            <a:noAutofit/>
          </a:bodyPr>
          <a:lstStyle/>
          <a:p>
            <a:pPr algn="l">
              <a:lnSpc>
                <a:spcPct val="110000"/>
              </a:lnSpc>
            </a:pPr>
            <a:r>
              <a:rPr sz="1100" b="0" i="0">
                <a:solidFill>
                  <a:srgbClr val="5B6673"/>
                </a:solidFill>
                <a:latin typeface="Segoe UI"/>
              </a:rPr>
              <a:t>Đủ đồng nhất → dừng</a:t>
            </a:r>
          </a:p>
        </p:txBody>
      </p:sp>
      <p:sp>
        <p:nvSpPr>
          <p:cNvPr id="23" name="Rectangle 22"/>
          <p:cNvSpPr/>
          <p:nvPr/>
        </p:nvSpPr>
        <p:spPr>
          <a:xfrm>
            <a:off x="9144000" y="5623560"/>
            <a:ext cx="201168" cy="201168"/>
          </a:xfrm>
          <a:prstGeom prst="rect">
            <a:avLst/>
          </a:prstGeom>
          <a:solidFill>
            <a:srgbClr val="F6ECDA"/>
          </a:solidFill>
          <a:ln w="1524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36608" y="5596128"/>
            <a:ext cx="2103120" cy="274320"/>
          </a:xfrm>
          <a:prstGeom prst="rect">
            <a:avLst/>
          </a:prstGeom>
          <a:noFill/>
        </p:spPr>
        <p:txBody>
          <a:bodyPr wrap="square" lIns="0" tIns="0" rIns="0" bIns="0" anchor="t">
            <a:noAutofit/>
          </a:bodyPr>
          <a:lstStyle/>
          <a:p>
            <a:pPr algn="l">
              <a:lnSpc>
                <a:spcPct val="110000"/>
              </a:lnSpc>
            </a:pPr>
            <a:r>
              <a:rPr sz="1100" b="0" i="0">
                <a:solidFill>
                  <a:srgbClr val="5B6673"/>
                </a:solidFill>
                <a:latin typeface="Segoe UI"/>
              </a:rPr>
              <a:t>Chưa đồng nhất → chia tiếp</a:t>
            </a:r>
          </a:p>
        </p:txBody>
      </p:sp>
      <p:cxnSp>
        <p:nvCxnSpPr>
          <p:cNvPr id="25" name="Connector 24"/>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27" name="TextBox 26"/>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SPLIT AND MERGE · BƯỚC 2</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Gộp: ghép các vùng giống nhau</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783080"/>
            <a:ext cx="4937760" cy="3200400"/>
          </a:xfrm>
          <a:prstGeom prst="rect">
            <a:avLst/>
          </a:prstGeom>
          <a:noFill/>
        </p:spPr>
        <p:txBody>
          <a:bodyPr wrap="square" lIns="0" tIns="0" rIns="0" bIns="0">
            <a:noAutofit/>
          </a:bodyPr>
          <a:lstStyle/>
          <a:p>
            <a:pPr>
              <a:lnSpc>
                <a:spcPct val="112000"/>
              </a:lnSpc>
              <a:spcAft>
                <a:spcPts val="1100"/>
              </a:spcAft>
            </a:pPr>
            <a:r>
              <a:rPr sz="1450" b="1">
                <a:solidFill>
                  <a:srgbClr val="2E7D6E"/>
                </a:solidFill>
                <a:latin typeface="Segoe UI"/>
              </a:rPr>
              <a:t>•   </a:t>
            </a:r>
            <a:r>
              <a:rPr sz="1450" b="1">
                <a:solidFill>
                  <a:srgbClr val="1F2933"/>
                </a:solidFill>
                <a:latin typeface="Segoe UI"/>
              </a:rPr>
              <a:t>Xét các vùng kề nhau</a:t>
            </a:r>
            <a:r>
              <a:rPr sz="1450">
                <a:solidFill>
                  <a:srgbClr val="5B6673"/>
                </a:solidFill>
                <a:latin typeface="Segoe UI"/>
              </a:rPr>
              <a:t>  chỉ những vùng nằm sát nhau mới có thể gộp.</a:t>
            </a:r>
          </a:p>
          <a:p>
            <a:pPr>
              <a:lnSpc>
                <a:spcPct val="112000"/>
              </a:lnSpc>
              <a:spcAft>
                <a:spcPts val="1100"/>
              </a:spcAft>
            </a:pPr>
            <a:r>
              <a:rPr sz="1450" b="1">
                <a:solidFill>
                  <a:srgbClr val="2E7D6E"/>
                </a:solidFill>
                <a:latin typeface="Segoe UI"/>
              </a:rPr>
              <a:t>•   </a:t>
            </a:r>
            <a:r>
              <a:rPr sz="1450" b="1">
                <a:solidFill>
                  <a:srgbClr val="1F2933"/>
                </a:solidFill>
                <a:latin typeface="Segoe UI"/>
              </a:rPr>
              <a:t>So sánh trung bình màu</a:t>
            </a:r>
            <a:r>
              <a:rPr sz="1450">
                <a:solidFill>
                  <a:srgbClr val="5B6673"/>
                </a:solidFill>
                <a:latin typeface="Segoe UI"/>
              </a:rPr>
              <a:t>  nếu đủ gần, gộp chúng thành một vùng.</a:t>
            </a:r>
          </a:p>
          <a:p>
            <a:pPr>
              <a:lnSpc>
                <a:spcPct val="112000"/>
              </a:lnSpc>
              <a:spcAft>
                <a:spcPts val="1100"/>
              </a:spcAft>
            </a:pPr>
            <a:r>
              <a:rPr sz="1450" b="1">
                <a:solidFill>
                  <a:srgbClr val="2E7D6E"/>
                </a:solidFill>
                <a:latin typeface="Segoe UI"/>
              </a:rPr>
              <a:t>•   </a:t>
            </a:r>
            <a:r>
              <a:rPr sz="1450" b="1">
                <a:solidFill>
                  <a:srgbClr val="1F2933"/>
                </a:solidFill>
                <a:latin typeface="Segoe UI"/>
              </a:rPr>
              <a:t>Lặp lại</a:t>
            </a:r>
            <a:r>
              <a:rPr sz="1450">
                <a:solidFill>
                  <a:srgbClr val="5B6673"/>
                </a:solidFill>
                <a:latin typeface="Segoe UI"/>
              </a:rPr>
              <a:t>  cho đến khi không còn cặp vùng nào thỏa điều kiện.</a:t>
            </a:r>
          </a:p>
          <a:p>
            <a:pPr>
              <a:lnSpc>
                <a:spcPct val="112000"/>
              </a:lnSpc>
              <a:spcAft>
                <a:spcPts val="1100"/>
              </a:spcAft>
            </a:pPr>
            <a:r>
              <a:rPr sz="1450" b="1">
                <a:solidFill>
                  <a:srgbClr val="2E7D6E"/>
                </a:solidFill>
                <a:latin typeface="Segoe UI"/>
              </a:rPr>
              <a:t>•   </a:t>
            </a:r>
            <a:r>
              <a:rPr sz="1450" b="1">
                <a:solidFill>
                  <a:srgbClr val="1F2933"/>
                </a:solidFill>
                <a:latin typeface="Segoe UI"/>
              </a:rPr>
              <a:t>Dọn vùng nhỏ</a:t>
            </a:r>
            <a:r>
              <a:rPr sz="1450">
                <a:solidFill>
                  <a:srgbClr val="5B6673"/>
                </a:solidFill>
                <a:latin typeface="Segoe UI"/>
              </a:rPr>
              <a:t>  gộp các vùng quá nhỏ vào vùng lân cận giống nhất.</a:t>
            </a:r>
          </a:p>
        </p:txBody>
      </p:sp>
      <p:sp>
        <p:nvSpPr>
          <p:cNvPr id="6" name="TextBox 5"/>
          <p:cNvSpPr txBox="1"/>
          <p:nvPr/>
        </p:nvSpPr>
        <p:spPr>
          <a:xfrm>
            <a:off x="685800" y="5257800"/>
            <a:ext cx="4846320" cy="731520"/>
          </a:xfrm>
          <a:prstGeom prst="rect">
            <a:avLst/>
          </a:prstGeom>
          <a:noFill/>
        </p:spPr>
        <p:txBody>
          <a:bodyPr wrap="square" lIns="0" tIns="0" rIns="0" bIns="0" anchor="t">
            <a:noAutofit/>
          </a:bodyPr>
          <a:lstStyle/>
          <a:p>
            <a:pPr algn="l">
              <a:lnSpc>
                <a:spcPct val="115000"/>
              </a:lnSpc>
            </a:pPr>
            <a:r>
              <a:rPr sz="1350" b="0" i="1">
                <a:solidFill>
                  <a:srgbClr val="5B6673"/>
                </a:solidFill>
                <a:latin typeface="Segoe UI"/>
              </a:rPr>
              <a:t>Gộp chỉ diễn ra giữa các vùng kề nhau — không gộp hai vùng rời nhau dù màu giống.</a:t>
            </a:r>
          </a:p>
        </p:txBody>
      </p:sp>
      <p:sp>
        <p:nvSpPr>
          <p:cNvPr id="7" name="TextBox 6"/>
          <p:cNvSpPr txBox="1"/>
          <p:nvPr/>
        </p:nvSpPr>
        <p:spPr>
          <a:xfrm>
            <a:off x="7315200" y="1581911"/>
            <a:ext cx="2743200" cy="274320"/>
          </a:xfrm>
          <a:prstGeom prst="rect">
            <a:avLst/>
          </a:prstGeom>
          <a:noFill/>
        </p:spPr>
        <p:txBody>
          <a:bodyPr wrap="square" lIns="0" tIns="0" rIns="0" bIns="0" anchor="t">
            <a:noAutofit/>
          </a:bodyPr>
          <a:lstStyle/>
          <a:p>
            <a:pPr algn="l">
              <a:lnSpc>
                <a:spcPct val="110000"/>
              </a:lnSpc>
            </a:pPr>
            <a:r>
              <a:rPr sz="1050" b="1" i="0">
                <a:solidFill>
                  <a:srgbClr val="5B6673"/>
                </a:solidFill>
                <a:latin typeface="Segoe UI"/>
              </a:rPr>
              <a:t>TRƯỚC KHI GỘP</a:t>
            </a:r>
          </a:p>
        </p:txBody>
      </p:sp>
      <p:sp>
        <p:nvSpPr>
          <p:cNvPr id="8" name="Rectangle 7"/>
          <p:cNvSpPr/>
          <p:nvPr/>
        </p:nvSpPr>
        <p:spPr>
          <a:xfrm>
            <a:off x="7315200" y="1874519"/>
            <a:ext cx="457200" cy="457200"/>
          </a:xfrm>
          <a:prstGeom prst="rect">
            <a:avLst/>
          </a:prstGeom>
          <a:solidFill>
            <a:srgbClr val="D6E8E3"/>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0" y="1874519"/>
            <a:ext cx="457200" cy="457200"/>
          </a:xfrm>
          <a:prstGeom prst="rect">
            <a:avLst/>
          </a:prstGeom>
          <a:solidFill>
            <a:srgbClr val="A9D3C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0" y="1874519"/>
            <a:ext cx="457200" cy="457200"/>
          </a:xfrm>
          <a:prstGeom prst="rect">
            <a:avLst/>
          </a:prstGeom>
          <a:solidFill>
            <a:srgbClr val="BCDDD4"/>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686800" y="1874519"/>
            <a:ext cx="457200" cy="457200"/>
          </a:xfrm>
          <a:prstGeom prst="rect">
            <a:avLst/>
          </a:prstGeom>
          <a:solidFill>
            <a:srgbClr val="F2DCCF"/>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0" y="1874519"/>
            <a:ext cx="457200" cy="457200"/>
          </a:xfrm>
          <a:prstGeom prst="rect">
            <a:avLst/>
          </a:prstGeom>
          <a:solidFill>
            <a:srgbClr val="EFD6C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601200" y="1874519"/>
            <a:ext cx="457200" cy="457200"/>
          </a:xfrm>
          <a:prstGeom prst="rect">
            <a:avLst/>
          </a:prstGeom>
          <a:solidFill>
            <a:srgbClr val="F7E8E0"/>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0" y="2331720"/>
            <a:ext cx="457200" cy="457200"/>
          </a:xfrm>
          <a:prstGeom prst="rect">
            <a:avLst/>
          </a:prstGeom>
          <a:solidFill>
            <a:srgbClr val="A9D3C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0" y="2331720"/>
            <a:ext cx="457200" cy="457200"/>
          </a:xfrm>
          <a:prstGeom prst="rect">
            <a:avLst/>
          </a:prstGeom>
          <a:solidFill>
            <a:srgbClr val="BCDDD4"/>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2331720"/>
            <a:ext cx="457200" cy="457200"/>
          </a:xfrm>
          <a:prstGeom prst="rect">
            <a:avLst/>
          </a:prstGeom>
          <a:solidFill>
            <a:srgbClr val="D6E8E3"/>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86800" y="2331720"/>
            <a:ext cx="457200" cy="457200"/>
          </a:xfrm>
          <a:prstGeom prst="rect">
            <a:avLst/>
          </a:prstGeom>
          <a:solidFill>
            <a:srgbClr val="EFD6C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44000" y="2331720"/>
            <a:ext cx="457200" cy="457200"/>
          </a:xfrm>
          <a:prstGeom prst="rect">
            <a:avLst/>
          </a:prstGeom>
          <a:solidFill>
            <a:srgbClr val="F7E8E0"/>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601200" y="2331720"/>
            <a:ext cx="457200" cy="457200"/>
          </a:xfrm>
          <a:prstGeom prst="rect">
            <a:avLst/>
          </a:prstGeom>
          <a:solidFill>
            <a:srgbClr val="F2DCCF"/>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0" y="2788920"/>
            <a:ext cx="457200" cy="457200"/>
          </a:xfrm>
          <a:prstGeom prst="rect">
            <a:avLst/>
          </a:prstGeom>
          <a:solidFill>
            <a:srgbClr val="EAD9BC"/>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772400" y="2788920"/>
            <a:ext cx="457200" cy="457200"/>
          </a:xfrm>
          <a:prstGeom prst="rect">
            <a:avLst/>
          </a:prstGeom>
          <a:solidFill>
            <a:srgbClr val="F0E3C6"/>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0" y="2788920"/>
            <a:ext cx="457200" cy="457200"/>
          </a:xfrm>
          <a:prstGeom prst="rect">
            <a:avLst/>
          </a:prstGeom>
          <a:solidFill>
            <a:srgbClr val="E2EBF2"/>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0" y="2788920"/>
            <a:ext cx="457200" cy="457200"/>
          </a:xfrm>
          <a:prstGeom prst="rect">
            <a:avLst/>
          </a:prstGeom>
          <a:solidFill>
            <a:srgbClr val="D0DEE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144000" y="2788920"/>
            <a:ext cx="457200" cy="457200"/>
          </a:xfrm>
          <a:prstGeom prst="rect">
            <a:avLst/>
          </a:prstGeom>
          <a:solidFill>
            <a:srgbClr val="F2DCCF"/>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601200" y="2788920"/>
            <a:ext cx="457200" cy="457200"/>
          </a:xfrm>
          <a:prstGeom prst="rect">
            <a:avLst/>
          </a:prstGeom>
          <a:solidFill>
            <a:srgbClr val="EFD6C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15200" y="3246120"/>
            <a:ext cx="457200" cy="457200"/>
          </a:xfrm>
          <a:prstGeom prst="rect">
            <a:avLst/>
          </a:prstGeom>
          <a:solidFill>
            <a:srgbClr val="F0E3C6"/>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2400" y="3246120"/>
            <a:ext cx="457200" cy="457200"/>
          </a:xfrm>
          <a:prstGeom prst="rect">
            <a:avLst/>
          </a:prstGeom>
          <a:solidFill>
            <a:srgbClr val="F6ECDA"/>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29600" y="3246120"/>
            <a:ext cx="457200" cy="457200"/>
          </a:xfrm>
          <a:prstGeom prst="rect">
            <a:avLst/>
          </a:prstGeom>
          <a:solidFill>
            <a:srgbClr val="D0DEE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86800" y="3246120"/>
            <a:ext cx="457200" cy="457200"/>
          </a:xfrm>
          <a:prstGeom prst="rect">
            <a:avLst/>
          </a:prstGeom>
          <a:solidFill>
            <a:srgbClr val="D7E3EC"/>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144000" y="3246120"/>
            <a:ext cx="457200" cy="457200"/>
          </a:xfrm>
          <a:prstGeom prst="rect">
            <a:avLst/>
          </a:prstGeom>
          <a:solidFill>
            <a:srgbClr val="E2EBF2"/>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601200" y="3246120"/>
            <a:ext cx="457200" cy="457200"/>
          </a:xfrm>
          <a:prstGeom prst="rect">
            <a:avLst/>
          </a:prstGeom>
          <a:solidFill>
            <a:srgbClr val="D0DEE9"/>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wn Arrow 31"/>
          <p:cNvSpPr/>
          <p:nvPr/>
        </p:nvSpPr>
        <p:spPr>
          <a:xfrm>
            <a:off x="8531352" y="3794759"/>
            <a:ext cx="310896" cy="347472"/>
          </a:xfrm>
          <a:prstGeom prst="downArrow">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0" y="3941063"/>
            <a:ext cx="2743200" cy="274320"/>
          </a:xfrm>
          <a:prstGeom prst="rect">
            <a:avLst/>
          </a:prstGeom>
          <a:noFill/>
        </p:spPr>
        <p:txBody>
          <a:bodyPr wrap="square" lIns="0" tIns="0" rIns="0" bIns="0" anchor="t">
            <a:noAutofit/>
          </a:bodyPr>
          <a:lstStyle/>
          <a:p>
            <a:pPr algn="l">
              <a:lnSpc>
                <a:spcPct val="110000"/>
              </a:lnSpc>
            </a:pPr>
            <a:r>
              <a:rPr sz="1050" b="1" i="0">
                <a:solidFill>
                  <a:srgbClr val="C75B39"/>
                </a:solidFill>
                <a:latin typeface="Segoe UI"/>
              </a:rPr>
              <a:t>SAU KHI GỘP</a:t>
            </a:r>
          </a:p>
        </p:txBody>
      </p:sp>
      <p:sp>
        <p:nvSpPr>
          <p:cNvPr id="34" name="Rectangle 33"/>
          <p:cNvSpPr/>
          <p:nvPr/>
        </p:nvSpPr>
        <p:spPr>
          <a:xfrm>
            <a:off x="7315200" y="4233672"/>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772400" y="4233672"/>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29600" y="4233672"/>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686800" y="42336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144000" y="42336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601200" y="42336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315200" y="4690872"/>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772400" y="4690872"/>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229600" y="4690872"/>
            <a:ext cx="457200" cy="457200"/>
          </a:xfrm>
          <a:prstGeom prst="rect">
            <a:avLst/>
          </a:prstGeom>
          <a:solidFill>
            <a:srgbClr val="A9D3C9"/>
          </a:solidFill>
          <a:ln w="10160">
            <a:solidFill>
              <a:srgbClr val="A9D3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686800" y="46908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144000" y="46908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601200" y="46908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315200" y="5148072"/>
            <a:ext cx="457200" cy="457200"/>
          </a:xfrm>
          <a:prstGeom prst="rect">
            <a:avLst/>
          </a:prstGeom>
          <a:solidFill>
            <a:srgbClr val="F0E3C6"/>
          </a:solidFill>
          <a:ln w="10160">
            <a:solidFill>
              <a:srgbClr val="F0E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772400" y="5148072"/>
            <a:ext cx="457200" cy="457200"/>
          </a:xfrm>
          <a:prstGeom prst="rect">
            <a:avLst/>
          </a:prstGeom>
          <a:solidFill>
            <a:srgbClr val="F0E3C6"/>
          </a:solidFill>
          <a:ln w="10160">
            <a:solidFill>
              <a:srgbClr val="F0E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229600" y="5148072"/>
            <a:ext cx="457200" cy="457200"/>
          </a:xfrm>
          <a:prstGeom prst="rect">
            <a:avLst/>
          </a:prstGeom>
          <a:solidFill>
            <a:srgbClr val="D7E3EC"/>
          </a:solidFill>
          <a:ln w="10160">
            <a:solidFill>
              <a:srgbClr val="D7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686800" y="5148072"/>
            <a:ext cx="457200" cy="457200"/>
          </a:xfrm>
          <a:prstGeom prst="rect">
            <a:avLst/>
          </a:prstGeom>
          <a:solidFill>
            <a:srgbClr val="D7E3EC"/>
          </a:solidFill>
          <a:ln w="10160">
            <a:solidFill>
              <a:srgbClr val="D7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144000" y="51480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601200" y="5148072"/>
            <a:ext cx="457200" cy="457200"/>
          </a:xfrm>
          <a:prstGeom prst="rect">
            <a:avLst/>
          </a:prstGeom>
          <a:solidFill>
            <a:srgbClr val="EFD6C9"/>
          </a:solidFill>
          <a:ln w="10160">
            <a:solidFill>
              <a:srgbClr val="EFD6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315200" y="5605272"/>
            <a:ext cx="457200" cy="457200"/>
          </a:xfrm>
          <a:prstGeom prst="rect">
            <a:avLst/>
          </a:prstGeom>
          <a:solidFill>
            <a:srgbClr val="F0E3C6"/>
          </a:solidFill>
          <a:ln w="10160">
            <a:solidFill>
              <a:srgbClr val="F0E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772400" y="5605272"/>
            <a:ext cx="457200" cy="457200"/>
          </a:xfrm>
          <a:prstGeom prst="rect">
            <a:avLst/>
          </a:prstGeom>
          <a:solidFill>
            <a:srgbClr val="F0E3C6"/>
          </a:solidFill>
          <a:ln w="10160">
            <a:solidFill>
              <a:srgbClr val="F0E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229600" y="5605272"/>
            <a:ext cx="457200" cy="457200"/>
          </a:xfrm>
          <a:prstGeom prst="rect">
            <a:avLst/>
          </a:prstGeom>
          <a:solidFill>
            <a:srgbClr val="D7E3EC"/>
          </a:solidFill>
          <a:ln w="10160">
            <a:solidFill>
              <a:srgbClr val="D7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686800" y="5605272"/>
            <a:ext cx="457200" cy="457200"/>
          </a:xfrm>
          <a:prstGeom prst="rect">
            <a:avLst/>
          </a:prstGeom>
          <a:solidFill>
            <a:srgbClr val="D7E3EC"/>
          </a:solidFill>
          <a:ln w="10160">
            <a:solidFill>
              <a:srgbClr val="D7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144000" y="5605272"/>
            <a:ext cx="457200" cy="457200"/>
          </a:xfrm>
          <a:prstGeom prst="rect">
            <a:avLst/>
          </a:prstGeom>
          <a:solidFill>
            <a:srgbClr val="D7E3EC"/>
          </a:solidFill>
          <a:ln w="10160">
            <a:solidFill>
              <a:srgbClr val="D7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01200" y="5605272"/>
            <a:ext cx="457200" cy="457200"/>
          </a:xfrm>
          <a:prstGeom prst="rect">
            <a:avLst/>
          </a:prstGeom>
          <a:solidFill>
            <a:srgbClr val="D7E3EC"/>
          </a:solidFill>
          <a:ln w="10160">
            <a:solidFill>
              <a:srgbClr val="D7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8" name="Connector 57"/>
          <p:cNvCxnSpPr/>
          <p:nvPr/>
        </p:nvCxnSpPr>
        <p:spPr>
          <a:xfrm>
            <a:off x="8686800" y="4233672"/>
            <a:ext cx="0" cy="45720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315200" y="5148072"/>
            <a:ext cx="45720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772400" y="5148072"/>
            <a:ext cx="45720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686800" y="4690872"/>
            <a:ext cx="0" cy="45720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229600" y="5148072"/>
            <a:ext cx="45720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686800" y="5148072"/>
            <a:ext cx="45720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229600" y="5148072"/>
            <a:ext cx="0" cy="45720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144000" y="5148072"/>
            <a:ext cx="0" cy="45720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144000" y="5605272"/>
            <a:ext cx="45720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601200" y="5605272"/>
            <a:ext cx="457200" cy="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29600" y="5605272"/>
            <a:ext cx="0" cy="457200"/>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315200" y="4233672"/>
            <a:ext cx="2743200" cy="1828800"/>
          </a:xfrm>
          <a:prstGeom prst="rect">
            <a:avLst/>
          </a:prstGeom>
          <a:noFill/>
          <a:ln w="254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72" name="TextBox 71"/>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SPLIT AND MERGE</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Gộp vùng: ba tham số điều khiển</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828800"/>
            <a:ext cx="3429000" cy="320040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143000" y="2395728"/>
            <a:ext cx="2514600" cy="128016"/>
          </a:xfrm>
          <a:prstGeom prst="round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43000" y="2395728"/>
            <a:ext cx="1056132" cy="128016"/>
          </a:xfrm>
          <a:prstGeom prst="roundRect">
            <a:avLst/>
          </a:prstGeom>
          <a:solidFill>
            <a:srgbClr val="A9D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052828" y="2304288"/>
            <a:ext cx="310896" cy="310896"/>
          </a:xfrm>
          <a:prstGeom prst="ellipse">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2596896"/>
            <a:ext cx="548640" cy="228600"/>
          </a:xfrm>
          <a:prstGeom prst="rect">
            <a:avLst/>
          </a:prstGeom>
          <a:noFill/>
        </p:spPr>
        <p:txBody>
          <a:bodyPr wrap="square" lIns="0" tIns="0" rIns="0" bIns="0" anchor="t">
            <a:noAutofit/>
          </a:bodyPr>
          <a:lstStyle/>
          <a:p>
            <a:pPr algn="l">
              <a:lnSpc>
                <a:spcPct val="110000"/>
              </a:lnSpc>
            </a:pPr>
            <a:r>
              <a:rPr sz="1000" b="0" i="0">
                <a:solidFill>
                  <a:srgbClr val="5B6673"/>
                </a:solidFill>
                <a:latin typeface="Segoe UI"/>
              </a:rPr>
              <a:t>ít</a:t>
            </a:r>
          </a:p>
        </p:txBody>
      </p:sp>
      <p:sp>
        <p:nvSpPr>
          <p:cNvPr id="10" name="TextBox 9"/>
          <p:cNvSpPr txBox="1"/>
          <p:nvPr/>
        </p:nvSpPr>
        <p:spPr>
          <a:xfrm>
            <a:off x="3108960" y="2596896"/>
            <a:ext cx="548640" cy="228600"/>
          </a:xfrm>
          <a:prstGeom prst="rect">
            <a:avLst/>
          </a:prstGeom>
          <a:noFill/>
        </p:spPr>
        <p:txBody>
          <a:bodyPr wrap="square" lIns="0" tIns="0" rIns="0" bIns="0" anchor="t">
            <a:noAutofit/>
          </a:bodyPr>
          <a:lstStyle/>
          <a:p>
            <a:pPr algn="r">
              <a:lnSpc>
                <a:spcPct val="110000"/>
              </a:lnSpc>
            </a:pPr>
            <a:r>
              <a:rPr sz="1000" b="0" i="0">
                <a:solidFill>
                  <a:srgbClr val="5B6673"/>
                </a:solidFill>
                <a:latin typeface="Segoe UI"/>
              </a:rPr>
              <a:t>nhiều</a:t>
            </a:r>
          </a:p>
        </p:txBody>
      </p:sp>
      <p:sp>
        <p:nvSpPr>
          <p:cNvPr id="11" name="TextBox 10"/>
          <p:cNvSpPr txBox="1"/>
          <p:nvPr/>
        </p:nvSpPr>
        <p:spPr>
          <a:xfrm>
            <a:off x="914400" y="3063240"/>
            <a:ext cx="2971800" cy="365760"/>
          </a:xfrm>
          <a:prstGeom prst="rect">
            <a:avLst/>
          </a:prstGeom>
          <a:noFill/>
        </p:spPr>
        <p:txBody>
          <a:bodyPr wrap="square" lIns="0" tIns="0" rIns="0" bIns="0" anchor="t">
            <a:noAutofit/>
          </a:bodyPr>
          <a:lstStyle/>
          <a:p>
            <a:pPr algn="ctr">
              <a:lnSpc>
                <a:spcPct val="110000"/>
              </a:lnSpc>
            </a:pPr>
            <a:r>
              <a:rPr sz="1600" b="1" i="0">
                <a:solidFill>
                  <a:srgbClr val="1F2933"/>
                </a:solidFill>
                <a:latin typeface="Segoe UI"/>
              </a:rPr>
              <a:t>Ngưỡng tách</a:t>
            </a:r>
          </a:p>
        </p:txBody>
      </p:sp>
      <p:sp>
        <p:nvSpPr>
          <p:cNvPr id="12" name="TextBox 11"/>
          <p:cNvSpPr txBox="1"/>
          <p:nvPr/>
        </p:nvSpPr>
        <p:spPr>
          <a:xfrm>
            <a:off x="1005840" y="3520440"/>
            <a:ext cx="2788920" cy="1188720"/>
          </a:xfrm>
          <a:prstGeom prst="rect">
            <a:avLst/>
          </a:prstGeom>
          <a:noFill/>
        </p:spPr>
        <p:txBody>
          <a:bodyPr wrap="square" lIns="0" tIns="0" rIns="0" bIns="0" anchor="t">
            <a:noAutofit/>
          </a:bodyPr>
          <a:lstStyle/>
          <a:p>
            <a:pPr algn="ctr">
              <a:lnSpc>
                <a:spcPct val="120000"/>
              </a:lnSpc>
            </a:pPr>
            <a:r>
              <a:rPr sz="1320" b="0" i="0">
                <a:solidFill>
                  <a:srgbClr val="5B6673"/>
                </a:solidFill>
                <a:latin typeface="Segoe UI"/>
              </a:rPr>
              <a:t>Thấp: chia nhiều, khối nhỏ.</a:t>
            </a:r>
          </a:p>
          <a:p>
            <a:pPr algn="ctr">
              <a:lnSpc>
                <a:spcPct val="120000"/>
              </a:lnSpc>
            </a:pPr>
            <a:r>
              <a:rPr sz="1320" b="0" i="0">
                <a:solidFill>
                  <a:srgbClr val="5B6673"/>
                </a:solidFill>
                <a:latin typeface="Segoe UI"/>
              </a:rPr>
              <a:t>Cao: chia ít, khối lớn.</a:t>
            </a:r>
          </a:p>
        </p:txBody>
      </p:sp>
      <p:sp>
        <p:nvSpPr>
          <p:cNvPr id="13" name="Rounded Rectangle 12"/>
          <p:cNvSpPr/>
          <p:nvPr/>
        </p:nvSpPr>
        <p:spPr>
          <a:xfrm>
            <a:off x="4379976" y="1828800"/>
            <a:ext cx="3429000" cy="320040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837176" y="2395728"/>
            <a:ext cx="2514600" cy="128016"/>
          </a:xfrm>
          <a:prstGeom prst="round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837176" y="2395728"/>
            <a:ext cx="1559052" cy="128016"/>
          </a:xfrm>
          <a:prstGeom prst="roundRect">
            <a:avLst/>
          </a:prstGeom>
          <a:solidFill>
            <a:srgbClr val="A9D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49924" y="2304288"/>
            <a:ext cx="310896" cy="310896"/>
          </a:xfrm>
          <a:prstGeom prst="ellipse">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37176" y="2596896"/>
            <a:ext cx="548640" cy="228600"/>
          </a:xfrm>
          <a:prstGeom prst="rect">
            <a:avLst/>
          </a:prstGeom>
          <a:noFill/>
        </p:spPr>
        <p:txBody>
          <a:bodyPr wrap="square" lIns="0" tIns="0" rIns="0" bIns="0" anchor="t">
            <a:noAutofit/>
          </a:bodyPr>
          <a:lstStyle/>
          <a:p>
            <a:pPr algn="l">
              <a:lnSpc>
                <a:spcPct val="110000"/>
              </a:lnSpc>
            </a:pPr>
            <a:r>
              <a:rPr sz="1000" b="0" i="0">
                <a:solidFill>
                  <a:srgbClr val="5B6673"/>
                </a:solidFill>
                <a:latin typeface="Segoe UI"/>
              </a:rPr>
              <a:t>ít</a:t>
            </a:r>
          </a:p>
        </p:txBody>
      </p:sp>
      <p:sp>
        <p:nvSpPr>
          <p:cNvPr id="18" name="TextBox 17"/>
          <p:cNvSpPr txBox="1"/>
          <p:nvPr/>
        </p:nvSpPr>
        <p:spPr>
          <a:xfrm>
            <a:off x="6803136" y="2596896"/>
            <a:ext cx="548640" cy="228600"/>
          </a:xfrm>
          <a:prstGeom prst="rect">
            <a:avLst/>
          </a:prstGeom>
          <a:noFill/>
        </p:spPr>
        <p:txBody>
          <a:bodyPr wrap="square" lIns="0" tIns="0" rIns="0" bIns="0" anchor="t">
            <a:noAutofit/>
          </a:bodyPr>
          <a:lstStyle/>
          <a:p>
            <a:pPr algn="r">
              <a:lnSpc>
                <a:spcPct val="110000"/>
              </a:lnSpc>
            </a:pPr>
            <a:r>
              <a:rPr sz="1000" b="0" i="0">
                <a:solidFill>
                  <a:srgbClr val="5B6673"/>
                </a:solidFill>
                <a:latin typeface="Segoe UI"/>
              </a:rPr>
              <a:t>nhiều</a:t>
            </a:r>
          </a:p>
        </p:txBody>
      </p:sp>
      <p:sp>
        <p:nvSpPr>
          <p:cNvPr id="19" name="TextBox 18"/>
          <p:cNvSpPr txBox="1"/>
          <p:nvPr/>
        </p:nvSpPr>
        <p:spPr>
          <a:xfrm>
            <a:off x="4608576" y="3063240"/>
            <a:ext cx="2971800" cy="365760"/>
          </a:xfrm>
          <a:prstGeom prst="rect">
            <a:avLst/>
          </a:prstGeom>
          <a:noFill/>
        </p:spPr>
        <p:txBody>
          <a:bodyPr wrap="square" lIns="0" tIns="0" rIns="0" bIns="0" anchor="t">
            <a:noAutofit/>
          </a:bodyPr>
          <a:lstStyle/>
          <a:p>
            <a:pPr algn="ctr">
              <a:lnSpc>
                <a:spcPct val="110000"/>
              </a:lnSpc>
            </a:pPr>
            <a:r>
              <a:rPr sz="1600" b="1" i="0">
                <a:solidFill>
                  <a:srgbClr val="1F2933"/>
                </a:solidFill>
                <a:latin typeface="Segoe UI"/>
              </a:rPr>
              <a:t>Ngưỡng gộp</a:t>
            </a:r>
          </a:p>
        </p:txBody>
      </p:sp>
      <p:sp>
        <p:nvSpPr>
          <p:cNvPr id="20" name="TextBox 19"/>
          <p:cNvSpPr txBox="1"/>
          <p:nvPr/>
        </p:nvSpPr>
        <p:spPr>
          <a:xfrm>
            <a:off x="4700016" y="3520440"/>
            <a:ext cx="2788920" cy="1188720"/>
          </a:xfrm>
          <a:prstGeom prst="rect">
            <a:avLst/>
          </a:prstGeom>
          <a:noFill/>
        </p:spPr>
        <p:txBody>
          <a:bodyPr wrap="square" lIns="0" tIns="0" rIns="0" bIns="0" anchor="t">
            <a:noAutofit/>
          </a:bodyPr>
          <a:lstStyle/>
          <a:p>
            <a:pPr algn="ctr">
              <a:lnSpc>
                <a:spcPct val="120000"/>
              </a:lnSpc>
            </a:pPr>
            <a:r>
              <a:rPr sz="1320" b="0" i="0">
                <a:solidFill>
                  <a:srgbClr val="5B6673"/>
                </a:solidFill>
                <a:latin typeface="Segoe UI"/>
              </a:rPr>
              <a:t>Thấp: ít gộp, nhiều vùng.</a:t>
            </a:r>
          </a:p>
          <a:p>
            <a:pPr algn="ctr">
              <a:lnSpc>
                <a:spcPct val="120000"/>
              </a:lnSpc>
            </a:pPr>
            <a:r>
              <a:rPr sz="1320" b="0" i="0">
                <a:solidFill>
                  <a:srgbClr val="5B6673"/>
                </a:solidFill>
                <a:latin typeface="Segoe UI"/>
              </a:rPr>
              <a:t>Cao: gộp mạnh, ít vùng.</a:t>
            </a:r>
          </a:p>
        </p:txBody>
      </p:sp>
      <p:sp>
        <p:nvSpPr>
          <p:cNvPr id="21" name="Rounded Rectangle 20"/>
          <p:cNvSpPr/>
          <p:nvPr/>
        </p:nvSpPr>
        <p:spPr>
          <a:xfrm>
            <a:off x="8074152" y="1828800"/>
            <a:ext cx="3429000" cy="3200400"/>
          </a:xfrm>
          <a:prstGeom prst="roundRect">
            <a:avLst>
              <a:gd name="adj" fmla="val 6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531352" y="2395728"/>
            <a:ext cx="2514600" cy="128016"/>
          </a:xfrm>
          <a:prstGeom prst="roundRect">
            <a:avLst/>
          </a:prstGeom>
          <a:solidFill>
            <a:srgbClr val="E2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531352" y="2395728"/>
            <a:ext cx="1383030" cy="128016"/>
          </a:xfrm>
          <a:prstGeom prst="roundRect">
            <a:avLst/>
          </a:prstGeom>
          <a:solidFill>
            <a:srgbClr val="A9D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768078" y="2304288"/>
            <a:ext cx="310896" cy="310896"/>
          </a:xfrm>
          <a:prstGeom prst="ellipse">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31352" y="2596896"/>
            <a:ext cx="548640" cy="228600"/>
          </a:xfrm>
          <a:prstGeom prst="rect">
            <a:avLst/>
          </a:prstGeom>
          <a:noFill/>
        </p:spPr>
        <p:txBody>
          <a:bodyPr wrap="square" lIns="0" tIns="0" rIns="0" bIns="0" anchor="t">
            <a:noAutofit/>
          </a:bodyPr>
          <a:lstStyle/>
          <a:p>
            <a:pPr algn="l">
              <a:lnSpc>
                <a:spcPct val="110000"/>
              </a:lnSpc>
            </a:pPr>
            <a:r>
              <a:rPr sz="1000" b="0" i="0">
                <a:solidFill>
                  <a:srgbClr val="5B6673"/>
                </a:solidFill>
                <a:latin typeface="Segoe UI"/>
              </a:rPr>
              <a:t>nhỏ</a:t>
            </a:r>
          </a:p>
        </p:txBody>
      </p:sp>
      <p:sp>
        <p:nvSpPr>
          <p:cNvPr id="26" name="TextBox 25"/>
          <p:cNvSpPr txBox="1"/>
          <p:nvPr/>
        </p:nvSpPr>
        <p:spPr>
          <a:xfrm>
            <a:off x="10497312" y="2596896"/>
            <a:ext cx="548640" cy="228600"/>
          </a:xfrm>
          <a:prstGeom prst="rect">
            <a:avLst/>
          </a:prstGeom>
          <a:noFill/>
        </p:spPr>
        <p:txBody>
          <a:bodyPr wrap="square" lIns="0" tIns="0" rIns="0" bIns="0" anchor="t">
            <a:noAutofit/>
          </a:bodyPr>
          <a:lstStyle/>
          <a:p>
            <a:pPr algn="r">
              <a:lnSpc>
                <a:spcPct val="110000"/>
              </a:lnSpc>
            </a:pPr>
            <a:r>
              <a:rPr sz="1000" b="0" i="0">
                <a:solidFill>
                  <a:srgbClr val="5B6673"/>
                </a:solidFill>
                <a:latin typeface="Segoe UI"/>
              </a:rPr>
              <a:t>lớn</a:t>
            </a:r>
          </a:p>
        </p:txBody>
      </p:sp>
      <p:sp>
        <p:nvSpPr>
          <p:cNvPr id="27" name="TextBox 26"/>
          <p:cNvSpPr txBox="1"/>
          <p:nvPr/>
        </p:nvSpPr>
        <p:spPr>
          <a:xfrm>
            <a:off x="8302752" y="3063240"/>
            <a:ext cx="2971800" cy="365760"/>
          </a:xfrm>
          <a:prstGeom prst="rect">
            <a:avLst/>
          </a:prstGeom>
          <a:noFill/>
        </p:spPr>
        <p:txBody>
          <a:bodyPr wrap="square" lIns="0" tIns="0" rIns="0" bIns="0" anchor="t">
            <a:noAutofit/>
          </a:bodyPr>
          <a:lstStyle/>
          <a:p>
            <a:pPr algn="ctr">
              <a:lnSpc>
                <a:spcPct val="110000"/>
              </a:lnSpc>
            </a:pPr>
            <a:r>
              <a:rPr sz="1600" b="1" i="0">
                <a:solidFill>
                  <a:srgbClr val="1F2933"/>
                </a:solidFill>
                <a:latin typeface="Segoe UI"/>
              </a:rPr>
              <a:t>Kích thước tối thiểu</a:t>
            </a:r>
          </a:p>
        </p:txBody>
      </p:sp>
      <p:sp>
        <p:nvSpPr>
          <p:cNvPr id="28" name="TextBox 27"/>
          <p:cNvSpPr txBox="1"/>
          <p:nvPr/>
        </p:nvSpPr>
        <p:spPr>
          <a:xfrm>
            <a:off x="8394192" y="3520440"/>
            <a:ext cx="2788920" cy="1188720"/>
          </a:xfrm>
          <a:prstGeom prst="rect">
            <a:avLst/>
          </a:prstGeom>
          <a:noFill/>
        </p:spPr>
        <p:txBody>
          <a:bodyPr wrap="square" lIns="0" tIns="0" rIns="0" bIns="0" anchor="t">
            <a:noAutofit/>
          </a:bodyPr>
          <a:lstStyle/>
          <a:p>
            <a:pPr algn="ctr">
              <a:lnSpc>
                <a:spcPct val="120000"/>
              </a:lnSpc>
            </a:pPr>
            <a:r>
              <a:rPr sz="1320" b="0" i="0">
                <a:solidFill>
                  <a:srgbClr val="5B6673"/>
                </a:solidFill>
                <a:latin typeface="Segoe UI"/>
              </a:rPr>
              <a:t>Loại bỏ hoặc gộp các vùng vụn không đáng kể.</a:t>
            </a:r>
          </a:p>
        </p:txBody>
      </p:sp>
      <p:cxnSp>
        <p:nvCxnSpPr>
          <p:cNvPr id="31" name="Connector 30"/>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33" name="TextBox 32"/>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SPLIT AND MERGE</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dirty="0" err="1">
                <a:solidFill>
                  <a:srgbClr val="1F2933"/>
                </a:solidFill>
                <a:latin typeface="Cambria"/>
              </a:rPr>
              <a:t>Gộp</a:t>
            </a:r>
            <a:r>
              <a:rPr sz="2900" b="1" i="0" dirty="0">
                <a:solidFill>
                  <a:srgbClr val="1F2933"/>
                </a:solidFill>
                <a:latin typeface="Cambria"/>
              </a:rPr>
              <a:t> </a:t>
            </a:r>
            <a:r>
              <a:rPr sz="2900" b="1" i="0" dirty="0" err="1">
                <a:solidFill>
                  <a:srgbClr val="1F2933"/>
                </a:solidFill>
                <a:latin typeface="Cambria"/>
              </a:rPr>
              <a:t>vùng</a:t>
            </a:r>
            <a:r>
              <a:rPr sz="2900" b="1" i="0" dirty="0">
                <a:solidFill>
                  <a:srgbClr val="1F2933"/>
                </a:solidFill>
                <a:latin typeface="Cambria"/>
              </a:rPr>
              <a:t>:</a:t>
            </a:r>
            <a:r>
              <a:rPr lang="en-US" sz="2900" b="1" i="0" dirty="0">
                <a:solidFill>
                  <a:srgbClr val="1F2933"/>
                </a:solidFill>
                <a:latin typeface="Cambria"/>
              </a:rPr>
              <a:t> </a:t>
            </a:r>
            <a:r>
              <a:rPr lang="en-US" sz="2900" b="1" i="0" dirty="0" err="1">
                <a:solidFill>
                  <a:srgbClr val="1F2933"/>
                </a:solidFill>
                <a:latin typeface="Cambria"/>
              </a:rPr>
              <a:t>điểm</a:t>
            </a:r>
            <a:r>
              <a:rPr sz="2900" b="1" i="0" dirty="0">
                <a:solidFill>
                  <a:srgbClr val="1F2933"/>
                </a:solidFill>
                <a:latin typeface="Cambria"/>
              </a:rPr>
              <a:t> </a:t>
            </a:r>
            <a:r>
              <a:rPr sz="2900" b="1" i="0" dirty="0" err="1">
                <a:solidFill>
                  <a:srgbClr val="1F2933"/>
                </a:solidFill>
                <a:latin typeface="Cambria"/>
              </a:rPr>
              <a:t>mạnh</a:t>
            </a:r>
            <a:r>
              <a:rPr sz="2900" b="1" i="0" dirty="0">
                <a:solidFill>
                  <a:srgbClr val="1F2933"/>
                </a:solidFill>
                <a:latin typeface="Cambria"/>
              </a:rPr>
              <a:t> , </a:t>
            </a:r>
            <a:r>
              <a:rPr sz="2900" b="1" i="0" dirty="0" err="1">
                <a:solidFill>
                  <a:srgbClr val="1F2933"/>
                </a:solidFill>
                <a:latin typeface="Cambria"/>
              </a:rPr>
              <a:t>yếu</a:t>
            </a:r>
            <a:r>
              <a:rPr sz="2900" b="1" i="0" dirty="0">
                <a:solidFill>
                  <a:srgbClr val="1F2933"/>
                </a:solidFill>
                <a:latin typeface="Cambria"/>
              </a:rPr>
              <a:t>?</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783080"/>
            <a:ext cx="5212080" cy="3474720"/>
          </a:xfrm>
          <a:prstGeom prst="roundRect">
            <a:avLst>
              <a:gd name="adj" fmla="val 6000"/>
            </a:avLst>
          </a:prstGeom>
          <a:solidFill>
            <a:srgbClr val="EDF4F1"/>
          </a:solidFill>
          <a:ln w="12700">
            <a:solidFill>
              <a:srgbClr val="CF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91072" y="1783080"/>
            <a:ext cx="5212080" cy="3474720"/>
          </a:xfrm>
          <a:prstGeom prst="roundRect">
            <a:avLst>
              <a:gd name="adj" fmla="val 6000"/>
            </a:avLst>
          </a:prstGeom>
          <a:solidFill>
            <a:srgbClr val="F9EDE8"/>
          </a:solidFill>
          <a:ln w="12700">
            <a:solidFill>
              <a:srgbClr val="EBCF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 y="2011680"/>
            <a:ext cx="420624" cy="420624"/>
          </a:xfrm>
          <a:prstGeom prst="ellipse">
            <a:avLst/>
          </a:prstGeom>
          <a:solidFill>
            <a:srgbClr val="2E7D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a:t>
            </a:r>
          </a:p>
        </p:txBody>
      </p:sp>
      <p:sp>
        <p:nvSpPr>
          <p:cNvPr id="8" name="TextBox 7"/>
          <p:cNvSpPr txBox="1"/>
          <p:nvPr/>
        </p:nvSpPr>
        <p:spPr>
          <a:xfrm>
            <a:off x="1508760" y="2029968"/>
            <a:ext cx="2743200" cy="411480"/>
          </a:xfrm>
          <a:prstGeom prst="rect">
            <a:avLst/>
          </a:prstGeom>
          <a:noFill/>
        </p:spPr>
        <p:txBody>
          <a:bodyPr wrap="square" lIns="0" tIns="0" rIns="0" bIns="0" anchor="t">
            <a:noAutofit/>
          </a:bodyPr>
          <a:lstStyle/>
          <a:p>
            <a:pPr algn="l">
              <a:lnSpc>
                <a:spcPct val="110000"/>
              </a:lnSpc>
            </a:pPr>
            <a:r>
              <a:rPr sz="1900" b="1" i="0">
                <a:solidFill>
                  <a:srgbClr val="2F6B60"/>
                </a:solidFill>
                <a:latin typeface="Segoe UI"/>
              </a:rPr>
              <a:t>Ưu điểm</a:t>
            </a:r>
          </a:p>
        </p:txBody>
      </p:sp>
      <p:sp>
        <p:nvSpPr>
          <p:cNvPr id="9" name="TextBox 8"/>
          <p:cNvSpPr txBox="1"/>
          <p:nvPr/>
        </p:nvSpPr>
        <p:spPr>
          <a:xfrm>
            <a:off x="960120" y="2743200"/>
            <a:ext cx="4617720" cy="2651760"/>
          </a:xfrm>
          <a:prstGeom prst="rect">
            <a:avLst/>
          </a:prstGeom>
          <a:noFill/>
        </p:spPr>
        <p:txBody>
          <a:bodyPr wrap="square" lIns="0" tIns="0" rIns="0" bIns="0">
            <a:noAutofit/>
          </a:bodyPr>
          <a:lstStyle/>
          <a:p>
            <a:pPr>
              <a:lnSpc>
                <a:spcPct val="112000"/>
              </a:lnSpc>
              <a:spcAft>
                <a:spcPts val="1300"/>
              </a:spcAft>
            </a:pPr>
            <a:r>
              <a:rPr sz="1500" b="1">
                <a:solidFill>
                  <a:srgbClr val="2E7D6E"/>
                </a:solidFill>
                <a:latin typeface="Segoe UI"/>
              </a:rPr>
              <a:t>•   </a:t>
            </a:r>
            <a:r>
              <a:rPr sz="1500">
                <a:solidFill>
                  <a:srgbClr val="1F2933"/>
                </a:solidFill>
                <a:latin typeface="Segoe UI"/>
              </a:rPr>
              <a:t>Tự động, không cần chọn hạt giống.</a:t>
            </a:r>
          </a:p>
          <a:p>
            <a:pPr>
              <a:lnSpc>
                <a:spcPct val="112000"/>
              </a:lnSpc>
              <a:spcAft>
                <a:spcPts val="1300"/>
              </a:spcAft>
            </a:pPr>
            <a:r>
              <a:rPr sz="1500" b="1">
                <a:solidFill>
                  <a:srgbClr val="2E7D6E"/>
                </a:solidFill>
                <a:latin typeface="Segoe UI"/>
              </a:rPr>
              <a:t>•   </a:t>
            </a:r>
            <a:r>
              <a:rPr sz="1500">
                <a:solidFill>
                  <a:srgbClr val="1F2933"/>
                </a:solidFill>
                <a:latin typeface="Segoe UI"/>
              </a:rPr>
              <a:t>Phủ kín toàn bộ ảnh, ổn định với ảnh lớn.</a:t>
            </a:r>
          </a:p>
          <a:p>
            <a:pPr>
              <a:lnSpc>
                <a:spcPct val="112000"/>
              </a:lnSpc>
              <a:spcAft>
                <a:spcPts val="1300"/>
              </a:spcAft>
            </a:pPr>
            <a:r>
              <a:rPr sz="1500" b="1">
                <a:solidFill>
                  <a:srgbClr val="2E7D6E"/>
                </a:solidFill>
                <a:latin typeface="Segoe UI"/>
              </a:rPr>
              <a:t>•   </a:t>
            </a:r>
            <a:r>
              <a:rPr sz="1500">
                <a:solidFill>
                  <a:srgbClr val="1F2933"/>
                </a:solidFill>
                <a:latin typeface="Segoe UI"/>
              </a:rPr>
              <a:t>Tận dụng được cấu trúc không gian của ảnh.</a:t>
            </a:r>
          </a:p>
        </p:txBody>
      </p:sp>
      <p:sp>
        <p:nvSpPr>
          <p:cNvPr id="10" name="Oval 9"/>
          <p:cNvSpPr/>
          <p:nvPr/>
        </p:nvSpPr>
        <p:spPr>
          <a:xfrm>
            <a:off x="6565392" y="2011680"/>
            <a:ext cx="420624" cy="420624"/>
          </a:xfrm>
          <a:prstGeom prst="ellipse">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800" b="1">
                <a:solidFill>
                  <a:srgbClr val="F4EFE6"/>
                </a:solidFill>
                <a:latin typeface="Segoe UI"/>
              </a:rPr>
              <a:t>!</a:t>
            </a:r>
          </a:p>
        </p:txBody>
      </p:sp>
      <p:sp>
        <p:nvSpPr>
          <p:cNvPr id="11" name="TextBox 10"/>
          <p:cNvSpPr txBox="1"/>
          <p:nvPr/>
        </p:nvSpPr>
        <p:spPr>
          <a:xfrm>
            <a:off x="7114032" y="2029968"/>
            <a:ext cx="2743200" cy="411480"/>
          </a:xfrm>
          <a:prstGeom prst="rect">
            <a:avLst/>
          </a:prstGeom>
          <a:noFill/>
        </p:spPr>
        <p:txBody>
          <a:bodyPr wrap="square" lIns="0" tIns="0" rIns="0" bIns="0" anchor="t">
            <a:noAutofit/>
          </a:bodyPr>
          <a:lstStyle/>
          <a:p>
            <a:pPr algn="l">
              <a:lnSpc>
                <a:spcPct val="110000"/>
              </a:lnSpc>
            </a:pPr>
            <a:r>
              <a:rPr sz="1900" b="1" i="0">
                <a:solidFill>
                  <a:srgbClr val="A9543A"/>
                </a:solidFill>
                <a:latin typeface="Segoe UI"/>
              </a:rPr>
              <a:t>Hạn chế</a:t>
            </a:r>
          </a:p>
        </p:txBody>
      </p:sp>
      <p:sp>
        <p:nvSpPr>
          <p:cNvPr id="12" name="TextBox 11"/>
          <p:cNvSpPr txBox="1"/>
          <p:nvPr/>
        </p:nvSpPr>
        <p:spPr>
          <a:xfrm>
            <a:off x="6565392" y="2743200"/>
            <a:ext cx="4617720" cy="2651760"/>
          </a:xfrm>
          <a:prstGeom prst="rect">
            <a:avLst/>
          </a:prstGeom>
          <a:noFill/>
        </p:spPr>
        <p:txBody>
          <a:bodyPr wrap="square" lIns="0" tIns="0" rIns="0" bIns="0">
            <a:noAutofit/>
          </a:bodyPr>
          <a:lstStyle/>
          <a:p>
            <a:pPr>
              <a:lnSpc>
                <a:spcPct val="112000"/>
              </a:lnSpc>
              <a:spcAft>
                <a:spcPts val="1300"/>
              </a:spcAft>
            </a:pPr>
            <a:r>
              <a:rPr sz="1500" b="1">
                <a:solidFill>
                  <a:srgbClr val="C75B39"/>
                </a:solidFill>
                <a:latin typeface="Segoe UI"/>
              </a:rPr>
              <a:t>•   </a:t>
            </a:r>
            <a:r>
              <a:rPr sz="1500">
                <a:solidFill>
                  <a:srgbClr val="1F2933"/>
                </a:solidFill>
                <a:latin typeface="Segoe UI"/>
              </a:rPr>
              <a:t>Biên vùng có dạng khối, dễ bị răng cưa.</a:t>
            </a:r>
          </a:p>
          <a:p>
            <a:pPr>
              <a:lnSpc>
                <a:spcPct val="112000"/>
              </a:lnSpc>
              <a:spcAft>
                <a:spcPts val="1300"/>
              </a:spcAft>
            </a:pPr>
            <a:r>
              <a:rPr sz="1500" b="1">
                <a:solidFill>
                  <a:srgbClr val="C75B39"/>
                </a:solidFill>
                <a:latin typeface="Segoe UI"/>
              </a:rPr>
              <a:t>•   </a:t>
            </a:r>
            <a:r>
              <a:rPr sz="1500">
                <a:solidFill>
                  <a:srgbClr val="1F2933"/>
                </a:solidFill>
                <a:latin typeface="Segoe UI"/>
              </a:rPr>
              <a:t>Phụ thuộc vào ngưỡng tách, ngưỡng gộp và tiêu chí đồng nhất.</a:t>
            </a:r>
          </a:p>
          <a:p>
            <a:pPr>
              <a:lnSpc>
                <a:spcPct val="112000"/>
              </a:lnSpc>
              <a:spcAft>
                <a:spcPts val="1300"/>
              </a:spcAft>
            </a:pPr>
            <a:r>
              <a:rPr sz="1500" b="1">
                <a:solidFill>
                  <a:srgbClr val="C75B39"/>
                </a:solidFill>
                <a:latin typeface="Segoe UI"/>
              </a:rPr>
              <a:t>•   </a:t>
            </a:r>
            <a:r>
              <a:rPr sz="1500">
                <a:solidFill>
                  <a:srgbClr val="1F2933"/>
                </a:solidFill>
                <a:latin typeface="Segoe UI"/>
              </a:rPr>
              <a:t>Không chọn riêng một đối tượng; có thể gộp nhầm vùng nhỏ.</a:t>
            </a:r>
          </a:p>
        </p:txBody>
      </p:sp>
      <p:sp>
        <p:nvSpPr>
          <p:cNvPr id="13" name="TextBox 12"/>
          <p:cNvSpPr txBox="1"/>
          <p:nvPr/>
        </p:nvSpPr>
        <p:spPr>
          <a:xfrm>
            <a:off x="685800" y="5623560"/>
            <a:ext cx="10817352" cy="365760"/>
          </a:xfrm>
          <a:prstGeom prst="rect">
            <a:avLst/>
          </a:prstGeom>
          <a:noFill/>
        </p:spPr>
        <p:txBody>
          <a:bodyPr wrap="square" lIns="0" tIns="0" rIns="0" bIns="0" anchor="t">
            <a:noAutofit/>
          </a:bodyPr>
          <a:lstStyle/>
          <a:p>
            <a:pPr algn="ctr">
              <a:lnSpc>
                <a:spcPct val="110000"/>
              </a:lnSpc>
            </a:pPr>
            <a:r>
              <a:rPr sz="1400" b="0" i="1">
                <a:solidFill>
                  <a:srgbClr val="5B6673"/>
                </a:solidFill>
                <a:latin typeface="Segoe UI"/>
              </a:rPr>
              <a:t>Chất lượng kết quả phụ thuộc cách chọn tiêu chí đồng nhất và các ngưỡng.</a:t>
            </a:r>
          </a:p>
        </p:txBody>
      </p:sp>
      <p:cxnSp>
        <p:nvCxnSpPr>
          <p:cNvPr id="14" name="Connector 13"/>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16" name="TextBox 15"/>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10789920" cy="274320"/>
          </a:xfrm>
          <a:prstGeom prst="rect">
            <a:avLst/>
          </a:prstGeom>
          <a:noFill/>
        </p:spPr>
        <p:txBody>
          <a:bodyPr wrap="square" lIns="0" tIns="0" rIns="0" bIns="0" anchor="t">
            <a:noAutofit/>
          </a:bodyPr>
          <a:lstStyle/>
          <a:p>
            <a:pPr algn="l">
              <a:lnSpc>
                <a:spcPct val="110000"/>
              </a:lnSpc>
            </a:pPr>
            <a:r>
              <a:rPr sz="1100" b="1" i="0">
                <a:solidFill>
                  <a:srgbClr val="C75B39"/>
                </a:solidFill>
                <a:latin typeface="Segoe UI"/>
              </a:rPr>
              <a:t>TỔNG HỢP</a:t>
            </a:r>
          </a:p>
        </p:txBody>
      </p:sp>
      <p:sp>
        <p:nvSpPr>
          <p:cNvPr id="3" name="TextBox 2"/>
          <p:cNvSpPr txBox="1"/>
          <p:nvPr/>
        </p:nvSpPr>
        <p:spPr>
          <a:xfrm>
            <a:off x="685800" y="603504"/>
            <a:ext cx="10881360" cy="731520"/>
          </a:xfrm>
          <a:prstGeom prst="rect">
            <a:avLst/>
          </a:prstGeom>
          <a:noFill/>
        </p:spPr>
        <p:txBody>
          <a:bodyPr wrap="square" lIns="0" tIns="0" rIns="0" bIns="0" anchor="t">
            <a:noAutofit/>
          </a:bodyPr>
          <a:lstStyle/>
          <a:p>
            <a:pPr algn="l">
              <a:lnSpc>
                <a:spcPct val="100000"/>
              </a:lnSpc>
            </a:pPr>
            <a:r>
              <a:rPr sz="2900" b="1" i="0">
                <a:solidFill>
                  <a:srgbClr val="1F2933"/>
                </a:solidFill>
                <a:latin typeface="Cambria"/>
              </a:rPr>
              <a:t>So sánh nhanh hai phương pháp</a:t>
            </a:r>
          </a:p>
        </p:txBody>
      </p:sp>
      <p:sp>
        <p:nvSpPr>
          <p:cNvPr id="4" name="Rectangle 3"/>
          <p:cNvSpPr/>
          <p:nvPr/>
        </p:nvSpPr>
        <p:spPr>
          <a:xfrm>
            <a:off x="685800" y="1344168"/>
            <a:ext cx="731520" cy="45720"/>
          </a:xfrm>
          <a:prstGeom prst="rect">
            <a:avLst/>
          </a:prstGeom>
          <a:solidFill>
            <a:srgbClr val="C75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85800" y="1783080"/>
          <a:ext cx="10789920" cy="374904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66928">
                <a:tc>
                  <a:txBody>
                    <a:bodyPr/>
                    <a:lstStyle/>
                    <a:p>
                      <a:pPr algn="l"/>
                      <a:r>
                        <a:rPr sz="1400" b="1">
                          <a:solidFill>
                            <a:srgbClr val="F4EFE6"/>
                          </a:solidFill>
                          <a:latin typeface="Segoe UI"/>
                        </a:rPr>
                        <a:t>Tiêu chí</a:t>
                      </a:r>
                    </a:p>
                  </a:txBody>
                  <a:tcPr marL="146304" marT="27432" marB="27432" anchor="ctr">
                    <a:solidFill>
                      <a:srgbClr val="12232E"/>
                    </a:solidFill>
                  </a:tcPr>
                </a:tc>
                <a:tc>
                  <a:txBody>
                    <a:bodyPr/>
                    <a:lstStyle/>
                    <a:p>
                      <a:pPr algn="l"/>
                      <a:r>
                        <a:rPr sz="1400" b="1">
                          <a:solidFill>
                            <a:srgbClr val="F4EFE6"/>
                          </a:solidFill>
                          <a:latin typeface="Segoe UI"/>
                        </a:rPr>
                        <a:t>Nở vùng</a:t>
                      </a:r>
                    </a:p>
                  </a:txBody>
                  <a:tcPr marL="146304" marT="27432" marB="27432" anchor="ctr">
                    <a:solidFill>
                      <a:srgbClr val="12232E"/>
                    </a:solidFill>
                  </a:tcPr>
                </a:tc>
                <a:tc>
                  <a:txBody>
                    <a:bodyPr/>
                    <a:lstStyle/>
                    <a:p>
                      <a:pPr algn="l"/>
                      <a:r>
                        <a:rPr sz="1400" b="1">
                          <a:solidFill>
                            <a:srgbClr val="F4EFE6"/>
                          </a:solidFill>
                          <a:latin typeface="Segoe UI"/>
                        </a:rPr>
                        <a:t>Gộp vùng</a:t>
                      </a:r>
                    </a:p>
                  </a:txBody>
                  <a:tcPr marL="146304" marT="27432" marB="27432" anchor="ctr">
                    <a:solidFill>
                      <a:srgbClr val="12232E"/>
                    </a:solidFill>
                  </a:tcPr>
                </a:tc>
                <a:extLst>
                  <a:ext uri="{0D108BD9-81ED-4DB2-BD59-A6C34878D82A}">
                    <a16:rowId xmlns:a16="http://schemas.microsoft.com/office/drawing/2014/main" val="10000"/>
                  </a:ext>
                </a:extLst>
              </a:tr>
              <a:tr h="530352">
                <a:tc>
                  <a:txBody>
                    <a:bodyPr/>
                    <a:lstStyle/>
                    <a:p>
                      <a:pPr algn="l"/>
                      <a:r>
                        <a:rPr sz="1350" b="1">
                          <a:solidFill>
                            <a:srgbClr val="1F2933"/>
                          </a:solidFill>
                          <a:latin typeface="Segoe UI"/>
                        </a:rPr>
                        <a:t>Điểm xuất phát</a:t>
                      </a:r>
                    </a:p>
                  </a:txBody>
                  <a:tcPr marL="146304" marT="27432" marB="27432" anchor="ctr">
                    <a:solidFill>
                      <a:srgbClr val="FFFFFF"/>
                    </a:solidFill>
                  </a:tcPr>
                </a:tc>
                <a:tc>
                  <a:txBody>
                    <a:bodyPr/>
                    <a:lstStyle/>
                    <a:p>
                      <a:pPr algn="l"/>
                      <a:r>
                        <a:rPr sz="1350" b="0">
                          <a:solidFill>
                            <a:srgbClr val="2F6B60"/>
                          </a:solidFill>
                          <a:latin typeface="Segoe UI"/>
                        </a:rPr>
                        <a:t>Hạt giống trong vùng</a:t>
                      </a:r>
                    </a:p>
                  </a:txBody>
                  <a:tcPr marL="146304" marT="27432" marB="27432" anchor="ctr">
                    <a:solidFill>
                      <a:srgbClr val="FFFFFF"/>
                    </a:solidFill>
                  </a:tcPr>
                </a:tc>
                <a:tc>
                  <a:txBody>
                    <a:bodyPr/>
                    <a:lstStyle/>
                    <a:p>
                      <a:pPr algn="l"/>
                      <a:r>
                        <a:rPr sz="1350" b="0">
                          <a:solidFill>
                            <a:srgbClr val="A9543A"/>
                          </a:solidFill>
                          <a:latin typeface="Segoe UI"/>
                        </a:rPr>
                        <a:t>Toàn bộ ảnh</a:t>
                      </a:r>
                    </a:p>
                  </a:txBody>
                  <a:tcPr marL="146304" marT="27432" marB="27432" anchor="ctr">
                    <a:solidFill>
                      <a:srgbClr val="FFFFFF"/>
                    </a:solidFill>
                  </a:tcPr>
                </a:tc>
                <a:extLst>
                  <a:ext uri="{0D108BD9-81ED-4DB2-BD59-A6C34878D82A}">
                    <a16:rowId xmlns:a16="http://schemas.microsoft.com/office/drawing/2014/main" val="10001"/>
                  </a:ext>
                </a:extLst>
              </a:tr>
              <a:tr h="530352">
                <a:tc>
                  <a:txBody>
                    <a:bodyPr/>
                    <a:lstStyle/>
                    <a:p>
                      <a:pPr algn="l"/>
                      <a:r>
                        <a:rPr sz="1350" b="1">
                          <a:solidFill>
                            <a:srgbClr val="1F2933"/>
                          </a:solidFill>
                          <a:latin typeface="Segoe UI"/>
                        </a:rPr>
                        <a:t>Hướng tiếp cận</a:t>
                      </a:r>
                    </a:p>
                  </a:txBody>
                  <a:tcPr marL="146304" marT="27432" marB="27432" anchor="ctr">
                    <a:solidFill>
                      <a:srgbClr val="F1EDE4"/>
                    </a:solidFill>
                  </a:tcPr>
                </a:tc>
                <a:tc>
                  <a:txBody>
                    <a:bodyPr/>
                    <a:lstStyle/>
                    <a:p>
                      <a:pPr algn="l"/>
                      <a:r>
                        <a:rPr sz="1350" b="0">
                          <a:solidFill>
                            <a:srgbClr val="2F6B60"/>
                          </a:solidFill>
                          <a:latin typeface="Segoe UI"/>
                        </a:rPr>
                        <a:t>Từ dưới lên (bottom-up)</a:t>
                      </a:r>
                    </a:p>
                  </a:txBody>
                  <a:tcPr marL="146304" marT="27432" marB="27432" anchor="ctr">
                    <a:solidFill>
                      <a:srgbClr val="F1EDE4"/>
                    </a:solidFill>
                  </a:tcPr>
                </a:tc>
                <a:tc>
                  <a:txBody>
                    <a:bodyPr/>
                    <a:lstStyle/>
                    <a:p>
                      <a:pPr algn="l"/>
                      <a:r>
                        <a:rPr sz="1350" b="0">
                          <a:solidFill>
                            <a:srgbClr val="A9543A"/>
                          </a:solidFill>
                          <a:latin typeface="Segoe UI"/>
                        </a:rPr>
                        <a:t>Từ trên xuống (top-down)</a:t>
                      </a:r>
                    </a:p>
                  </a:txBody>
                  <a:tcPr marL="146304" marT="27432" marB="27432" anchor="ctr">
                    <a:solidFill>
                      <a:srgbClr val="F1EDE4"/>
                    </a:solidFill>
                  </a:tcPr>
                </a:tc>
                <a:extLst>
                  <a:ext uri="{0D108BD9-81ED-4DB2-BD59-A6C34878D82A}">
                    <a16:rowId xmlns:a16="http://schemas.microsoft.com/office/drawing/2014/main" val="10002"/>
                  </a:ext>
                </a:extLst>
              </a:tr>
              <a:tr h="530352">
                <a:tc>
                  <a:txBody>
                    <a:bodyPr/>
                    <a:lstStyle/>
                    <a:p>
                      <a:pPr algn="l"/>
                      <a:r>
                        <a:rPr sz="1350" b="1">
                          <a:solidFill>
                            <a:srgbClr val="1F2933"/>
                          </a:solidFill>
                          <a:latin typeface="Segoe UI"/>
                        </a:rPr>
                        <a:t>Cần hạt giống</a:t>
                      </a:r>
                    </a:p>
                  </a:txBody>
                  <a:tcPr marL="146304" marT="27432" marB="27432" anchor="ctr">
                    <a:solidFill>
                      <a:srgbClr val="FFFFFF"/>
                    </a:solidFill>
                  </a:tcPr>
                </a:tc>
                <a:tc>
                  <a:txBody>
                    <a:bodyPr/>
                    <a:lstStyle/>
                    <a:p>
                      <a:pPr algn="l"/>
                      <a:r>
                        <a:rPr sz="1350" b="0">
                          <a:solidFill>
                            <a:srgbClr val="2F6B60"/>
                          </a:solidFill>
                          <a:latin typeface="Segoe UI"/>
                        </a:rPr>
                        <a:t>Có</a:t>
                      </a:r>
                    </a:p>
                  </a:txBody>
                  <a:tcPr marL="146304" marT="27432" marB="27432" anchor="ctr">
                    <a:solidFill>
                      <a:srgbClr val="FFFFFF"/>
                    </a:solidFill>
                  </a:tcPr>
                </a:tc>
                <a:tc>
                  <a:txBody>
                    <a:bodyPr/>
                    <a:lstStyle/>
                    <a:p>
                      <a:pPr algn="l"/>
                      <a:r>
                        <a:rPr sz="1350" b="0">
                          <a:solidFill>
                            <a:srgbClr val="A9543A"/>
                          </a:solidFill>
                          <a:latin typeface="Segoe UI"/>
                        </a:rPr>
                        <a:t>Không</a:t>
                      </a:r>
                    </a:p>
                  </a:txBody>
                  <a:tcPr marL="146304" marT="27432" marB="27432" anchor="ctr">
                    <a:solidFill>
                      <a:srgbClr val="FFFFFF"/>
                    </a:solidFill>
                  </a:tcPr>
                </a:tc>
                <a:extLst>
                  <a:ext uri="{0D108BD9-81ED-4DB2-BD59-A6C34878D82A}">
                    <a16:rowId xmlns:a16="http://schemas.microsoft.com/office/drawing/2014/main" val="10003"/>
                  </a:ext>
                </a:extLst>
              </a:tr>
              <a:tr h="530352">
                <a:tc>
                  <a:txBody>
                    <a:bodyPr/>
                    <a:lstStyle/>
                    <a:p>
                      <a:pPr algn="l"/>
                      <a:r>
                        <a:rPr sz="1350" b="1">
                          <a:solidFill>
                            <a:srgbClr val="1F2933"/>
                          </a:solidFill>
                          <a:latin typeface="Segoe UI"/>
                        </a:rPr>
                        <a:t>Hình dạng biên</a:t>
                      </a:r>
                    </a:p>
                  </a:txBody>
                  <a:tcPr marL="146304" marT="27432" marB="27432" anchor="ctr">
                    <a:solidFill>
                      <a:srgbClr val="F1EDE4"/>
                    </a:solidFill>
                  </a:tcPr>
                </a:tc>
                <a:tc>
                  <a:txBody>
                    <a:bodyPr/>
                    <a:lstStyle/>
                    <a:p>
                      <a:pPr algn="l"/>
                      <a:r>
                        <a:rPr sz="1350" b="0">
                          <a:solidFill>
                            <a:srgbClr val="2F6B60"/>
                          </a:solidFill>
                          <a:latin typeface="Segoe UI"/>
                        </a:rPr>
                        <a:t>Bám màu, mềm</a:t>
                      </a:r>
                    </a:p>
                  </a:txBody>
                  <a:tcPr marL="146304" marT="27432" marB="27432" anchor="ctr">
                    <a:solidFill>
                      <a:srgbClr val="F1EDE4"/>
                    </a:solidFill>
                  </a:tcPr>
                </a:tc>
                <a:tc>
                  <a:txBody>
                    <a:bodyPr/>
                    <a:lstStyle/>
                    <a:p>
                      <a:pPr algn="l"/>
                      <a:r>
                        <a:rPr sz="1350" b="0">
                          <a:solidFill>
                            <a:srgbClr val="A9543A"/>
                          </a:solidFill>
                          <a:latin typeface="Segoe UI"/>
                        </a:rPr>
                        <a:t>Dạng khối, răng cưa</a:t>
                      </a:r>
                    </a:p>
                  </a:txBody>
                  <a:tcPr marL="146304" marT="27432" marB="27432" anchor="ctr">
                    <a:solidFill>
                      <a:srgbClr val="F1EDE4"/>
                    </a:solidFill>
                  </a:tcPr>
                </a:tc>
                <a:extLst>
                  <a:ext uri="{0D108BD9-81ED-4DB2-BD59-A6C34878D82A}">
                    <a16:rowId xmlns:a16="http://schemas.microsoft.com/office/drawing/2014/main" val="10004"/>
                  </a:ext>
                </a:extLst>
              </a:tr>
              <a:tr h="530352">
                <a:tc>
                  <a:txBody>
                    <a:bodyPr/>
                    <a:lstStyle/>
                    <a:p>
                      <a:pPr algn="l"/>
                      <a:r>
                        <a:rPr sz="1350" b="1">
                          <a:solidFill>
                            <a:srgbClr val="1F2933"/>
                          </a:solidFill>
                          <a:latin typeface="Segoe UI"/>
                        </a:rPr>
                        <a:t>Phạm vi</a:t>
                      </a:r>
                    </a:p>
                  </a:txBody>
                  <a:tcPr marL="146304" marT="27432" marB="27432" anchor="ctr">
                    <a:solidFill>
                      <a:srgbClr val="FFFFFF"/>
                    </a:solidFill>
                  </a:tcPr>
                </a:tc>
                <a:tc>
                  <a:txBody>
                    <a:bodyPr/>
                    <a:lstStyle/>
                    <a:p>
                      <a:pPr algn="l"/>
                      <a:r>
                        <a:rPr sz="1350" b="0">
                          <a:solidFill>
                            <a:srgbClr val="2F6B60"/>
                          </a:solidFill>
                          <a:latin typeface="Segoe UI"/>
                        </a:rPr>
                        <a:t>Một hoặc vài vùng chọn trước</a:t>
                      </a:r>
                    </a:p>
                  </a:txBody>
                  <a:tcPr marL="146304" marT="27432" marB="27432" anchor="ctr">
                    <a:solidFill>
                      <a:srgbClr val="FFFFFF"/>
                    </a:solidFill>
                  </a:tcPr>
                </a:tc>
                <a:tc>
                  <a:txBody>
                    <a:bodyPr/>
                    <a:lstStyle/>
                    <a:p>
                      <a:pPr algn="l"/>
                      <a:r>
                        <a:rPr sz="1350" b="0">
                          <a:solidFill>
                            <a:srgbClr val="A9543A"/>
                          </a:solidFill>
                          <a:latin typeface="Segoe UI"/>
                        </a:rPr>
                        <a:t>Toàn ảnh</a:t>
                      </a:r>
                    </a:p>
                  </a:txBody>
                  <a:tcPr marL="146304" marT="27432" marB="27432" anchor="ctr">
                    <a:solidFill>
                      <a:srgbClr val="FFFFFF"/>
                    </a:solidFill>
                  </a:tcPr>
                </a:tc>
                <a:extLst>
                  <a:ext uri="{0D108BD9-81ED-4DB2-BD59-A6C34878D82A}">
                    <a16:rowId xmlns:a16="http://schemas.microsoft.com/office/drawing/2014/main" val="10005"/>
                  </a:ext>
                </a:extLst>
              </a:tr>
              <a:tr h="530352">
                <a:tc>
                  <a:txBody>
                    <a:bodyPr/>
                    <a:lstStyle/>
                    <a:p>
                      <a:pPr algn="l"/>
                      <a:r>
                        <a:rPr sz="1350" b="1">
                          <a:solidFill>
                            <a:srgbClr val="1F2933"/>
                          </a:solidFill>
                          <a:latin typeface="Segoe UI"/>
                        </a:rPr>
                        <a:t>Yếu tố nhạy cảm</a:t>
                      </a:r>
                    </a:p>
                  </a:txBody>
                  <a:tcPr marL="146304" marT="27432" marB="27432" anchor="ctr">
                    <a:solidFill>
                      <a:srgbClr val="F1EDE4"/>
                    </a:solidFill>
                  </a:tcPr>
                </a:tc>
                <a:tc>
                  <a:txBody>
                    <a:bodyPr/>
                    <a:lstStyle/>
                    <a:p>
                      <a:pPr algn="l"/>
                      <a:r>
                        <a:rPr sz="1350" b="0">
                          <a:solidFill>
                            <a:srgbClr val="2F6B60"/>
                          </a:solidFill>
                          <a:latin typeface="Segoe UI"/>
                        </a:rPr>
                        <a:t>Hạt giống + ngưỡng</a:t>
                      </a:r>
                    </a:p>
                  </a:txBody>
                  <a:tcPr marL="146304" marT="27432" marB="27432" anchor="ctr">
                    <a:solidFill>
                      <a:srgbClr val="F1EDE4"/>
                    </a:solidFill>
                  </a:tcPr>
                </a:tc>
                <a:tc>
                  <a:txBody>
                    <a:bodyPr/>
                    <a:lstStyle/>
                    <a:p>
                      <a:pPr algn="l"/>
                      <a:r>
                        <a:rPr sz="1350" b="0">
                          <a:solidFill>
                            <a:srgbClr val="A9543A"/>
                          </a:solidFill>
                          <a:latin typeface="Segoe UI"/>
                        </a:rPr>
                        <a:t>Ngưỡng tách/gộp + kích thước</a:t>
                      </a:r>
                    </a:p>
                  </a:txBody>
                  <a:tcPr marL="146304" marT="27432" marB="27432" anchor="ctr">
                    <a:solidFill>
                      <a:srgbClr val="F1EDE4"/>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85800" y="5989320"/>
            <a:ext cx="10817352" cy="320040"/>
          </a:xfrm>
          <a:prstGeom prst="rect">
            <a:avLst/>
          </a:prstGeom>
          <a:noFill/>
        </p:spPr>
        <p:txBody>
          <a:bodyPr wrap="square" lIns="0" tIns="0" rIns="0" bIns="0" anchor="t">
            <a:noAutofit/>
          </a:bodyPr>
          <a:lstStyle/>
          <a:p>
            <a:pPr algn="ctr">
              <a:lnSpc>
                <a:spcPct val="110000"/>
              </a:lnSpc>
            </a:pPr>
            <a:r>
              <a:rPr sz="1350" b="0" i="1">
                <a:solidFill>
                  <a:srgbClr val="5B6673"/>
                </a:solidFill>
                <a:latin typeface="Segoe UI"/>
              </a:rPr>
              <a:t>Cùng mục tiêu phân vùng, khác cách khám phá và mức độ can thiệp của người dùng.</a:t>
            </a:r>
          </a:p>
        </p:txBody>
      </p:sp>
      <p:cxnSp>
        <p:nvCxnSpPr>
          <p:cNvPr id="7" name="Connector 6"/>
          <p:cNvCxnSpPr/>
          <p:nvPr/>
        </p:nvCxnSpPr>
        <p:spPr>
          <a:xfrm>
            <a:off x="685800" y="6437376"/>
            <a:ext cx="10817352" cy="0"/>
          </a:xfrm>
          <a:prstGeom prst="line">
            <a:avLst/>
          </a:prstGeom>
          <a:ln w="11430">
            <a:solidFill>
              <a:srgbClr val="E2DC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510528"/>
            <a:ext cx="7772400" cy="228600"/>
          </a:xfrm>
          <a:prstGeom prst="rect">
            <a:avLst/>
          </a:prstGeom>
          <a:noFill/>
        </p:spPr>
        <p:txBody>
          <a:bodyPr wrap="square" lIns="0" tIns="0" rIns="0" bIns="0" anchor="t">
            <a:noAutofit/>
          </a:bodyPr>
          <a:lstStyle/>
          <a:p>
            <a:pPr algn="l">
              <a:lnSpc>
                <a:spcPct val="110000"/>
              </a:lnSpc>
            </a:pPr>
            <a:r>
              <a:rPr sz="950" b="0" i="0">
                <a:solidFill>
                  <a:srgbClr val="5B6673"/>
                </a:solidFill>
                <a:latin typeface="Segoe UI"/>
              </a:rPr>
              <a:t>Nở vùng &amp; Gộp vùng · Phân vùng ảnh</a:t>
            </a:r>
          </a:p>
        </p:txBody>
      </p:sp>
      <p:sp>
        <p:nvSpPr>
          <p:cNvPr id="9" name="TextBox 8"/>
          <p:cNvSpPr txBox="1"/>
          <p:nvPr/>
        </p:nvSpPr>
        <p:spPr>
          <a:xfrm>
            <a:off x="10588752" y="6510528"/>
            <a:ext cx="914400" cy="228600"/>
          </a:xfrm>
          <a:prstGeom prst="rect">
            <a:avLst/>
          </a:prstGeom>
          <a:noFill/>
        </p:spPr>
        <p:txBody>
          <a:bodyPr wrap="square" lIns="0" tIns="0" rIns="0" bIns="0" anchor="t">
            <a:noAutofit/>
          </a:bodyPr>
          <a:lstStyle/>
          <a:p>
            <a:pPr algn="r">
              <a:lnSpc>
                <a:spcPct val="110000"/>
              </a:lnSpc>
            </a:pPr>
            <a:r>
              <a:rPr sz="950" b="0" i="0">
                <a:solidFill>
                  <a:srgbClr val="5B6673"/>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F2D38A-2638-FDBD-A9E2-7FD85C4BEE3A}"/>
              </a:ext>
            </a:extLst>
          </p:cNvPr>
          <p:cNvSpPr/>
          <p:nvPr/>
        </p:nvSpPr>
        <p:spPr>
          <a:xfrm>
            <a:off x="2556387" y="1740310"/>
            <a:ext cx="7108723" cy="351011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200" dirty="0"/>
              <a:t>THE END</a:t>
            </a:r>
            <a:endParaRPr lang="en-001" sz="7200" dirty="0"/>
          </a:p>
        </p:txBody>
      </p:sp>
    </p:spTree>
    <p:extLst>
      <p:ext uri="{BB962C8B-B14F-4D97-AF65-F5344CB8AC3E}">
        <p14:creationId xmlns:p14="http://schemas.microsoft.com/office/powerpoint/2010/main" val="1531488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2033</Words>
  <Application>Microsoft Office PowerPoint</Application>
  <PresentationFormat>Widescreen</PresentationFormat>
  <Paragraphs>190</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Nở vùng &amp; Gộp vùng - Nền tảng lý thuyết</dc:title>
  <dc:subject>Phân vùng ảnh: Region Growing và Split and Merge</dc:subject>
  <dc:creator>Bài thuyết trình</dc:creator>
  <cp:keywords/>
  <dc:description>generated using python-pptx</dc:description>
  <cp:lastModifiedBy>Duck Man</cp:lastModifiedBy>
  <cp:revision>10</cp:revision>
  <dcterms:created xsi:type="dcterms:W3CDTF">2013-01-27T09:14:16Z</dcterms:created>
  <dcterms:modified xsi:type="dcterms:W3CDTF">2026-10-30T06:54:22Z</dcterms:modified>
  <cp:category/>
</cp:coreProperties>
</file>